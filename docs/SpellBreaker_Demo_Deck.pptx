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6a112091224ebc" /><Relationship Type="http://schemas.openxmlformats.org/officeDocument/2006/relationships/extended-properties" Target="/docProps/app.xml" Id="R0cbf47c37d254fb1" /><Relationship Type="http://schemas.openxmlformats.org/officeDocument/2006/relationships/officeDocument" Target="/ppt/presentation.xml" Id="R349d3e35a8c64a2f" /></Relationships>
</file>

<file path=ppt/presentation.xml><?xml version="1.0" encoding="utf-8"?>
<p:presentation xmlns:p="http://schemas.openxmlformats.org/presentationml/2006/main">
  <p:sldMasterIdLst>
    <p:sldMasterId xmlns:r="http://schemas.openxmlformats.org/officeDocument/2006/relationships" id="2147483648" r:id="R9fbbf7cb64b64c55"/>
  </p:sldMasterIdLst>
  <p:notesMasterIdLst>
    <p:notesMasterId xmlns:r="http://schemas.openxmlformats.org/officeDocument/2006/relationships" r:id="R8df965de88cc4569"/>
  </p:notesMasterIdLst>
  <p:sldIdLst>
    <p:sldId xmlns:r="http://schemas.openxmlformats.org/officeDocument/2006/relationships" id="256" r:id="R85c8454aac1c40b7"/>
    <p:sldId xmlns:r="http://schemas.openxmlformats.org/officeDocument/2006/relationships" id="257" r:id="Rccace9223fb848f0"/>
    <p:sldId xmlns:r="http://schemas.openxmlformats.org/officeDocument/2006/relationships" id="258" r:id="R899aa231110049b0"/>
    <p:sldId xmlns:r="http://schemas.openxmlformats.org/officeDocument/2006/relationships" id="259" r:id="R70ecf9c35076492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d46f580b574e9a" /><Relationship Type="http://schemas.openxmlformats.org/officeDocument/2006/relationships/slideMaster" Target="/ppt/slideMasters/slideMaster1.xml" Id="R9fbbf7cb64b64c55" /><Relationship Type="http://schemas.openxmlformats.org/officeDocument/2006/relationships/notesMaster" Target="/ppt/notesMasters/notesMaster1.xml" Id="R8df965de88cc4569" /><Relationship Type="http://schemas.openxmlformats.org/officeDocument/2006/relationships/presProps" Target="/ppt/presProps.xml" Id="Ra9d8b4c70eba4a83" /><Relationship Type="http://schemas.openxmlformats.org/officeDocument/2006/relationships/tableStyles" Target="/ppt/tableStyles.xml" Id="Rf379ff825b53459d" /><Relationship Type="http://schemas.openxmlformats.org/officeDocument/2006/relationships/slide" Target="/ppt/slides/slide1.xml" Id="R85c8454aac1c40b7" /><Relationship Type="http://schemas.openxmlformats.org/officeDocument/2006/relationships/slide" Target="/ppt/slides/slide2.xml" Id="Rccace9223fb848f0" /><Relationship Type="http://schemas.openxmlformats.org/officeDocument/2006/relationships/slide" Target="/ppt/slides/slide3.xml" Id="R899aa231110049b0" /><Relationship Type="http://schemas.openxmlformats.org/officeDocument/2006/relationships/slide" Target="/ppt/slides/slide4.xml" Id="R70ecf9c3507649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242ca5cc7849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d6f0f88255422e" /><Relationship Type="http://schemas.openxmlformats.org/officeDocument/2006/relationships/notesMaster" Target="/ppt/notesMasters/notesMaster1.xml" Id="Ra28fcb4b9eee43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bf9b1271e144fc" /><Relationship Type="http://schemas.openxmlformats.org/officeDocument/2006/relationships/notesMaster" Target="/ppt/notesMasters/notesMaster1.xml" Id="R04d973ce282f4e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8815dbbc07f467e" /><Relationship Type="http://schemas.openxmlformats.org/officeDocument/2006/relationships/notesMaster" Target="/ppt/notesMasters/notesMaster1.xml" Id="Rc1bebe6b6ff444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84e575d9b04e08" /><Relationship Type="http://schemas.openxmlformats.org/officeDocument/2006/relationships/notesMaster" Target="/ppt/notesMasters/notesMaster1.xml" Id="R3b77c0ba21ce4d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seconds. “Hi, we’re Team Tokenmaxxers. This is SpellBreaker, a real-time transfer check designed for the moment a genuine customer is being pressured to send money. We’ll quickly explain the problem and the scoring flow, then jump into the live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 seconds. “In 2025, Singapore recorded more than S$913 million in scam losses across 41,974 cases. In 81.8 percent of cases, the real account holder sent the money. Identity checks can pass, so the bank also needs to look at the transfer context.” Source: https://www.police.gov.sg/media-hub/police-life/2026/02/scams-and-cybercrime-fell-by-almost-a-quarter-in-2025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 “The app sends transfer and session signals into the scoring service. Three model signals feed a policy layer: transfer risk and scam type from scikit-learn, plus a receiver mule score from XGBoost. The policy returns allow, ask, or hold. The recipient name is not a model feature, and identifiers stay out of the case-note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 seconds. “The stack is scikit-learn, XGBoost, FastAPI and NumPy, running on IBM LinuxONE. Our latest 10,000-request benchmark measured server-side p99 latency at about 25 milliseconds. Granite case notes are asynchronous and optional; the template remains the default. Now let’s open the app and score a transfer.”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1e17e3e07f488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cfde8c5f69a409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4dd096b8e2d448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613c0f7828a46a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d62c433cdb8474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34460b55d6041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E47181-29FC-4D51-B3A8-ACC3A9B2CFF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9881D91-7E1B-4283-8236-B4F5F2FD76A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4B4359B-C7D5-4D83-81C7-34BAFEABED6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4B0336-81B1-4F4C-88B0-DDBD7E243E5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0242EF2-D6C2-40D5-9BD6-63C9DF4A082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D01EEA5-FDD7-4E11-BEC7-5AA93B1C1A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836993-6309-4441-A53D-B6C48585B81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3BF9F87-301E-42C6-B667-F15EBCC7D70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7CFF3F-CE7B-48A2-8312-A949A9349F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796952-5F97-40D5-B4E4-22CA925259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7f7616b8a04ad0" /><Relationship Type="http://schemas.openxmlformats.org/officeDocument/2006/relationships/slideLayout" Target="/ppt/slideLayouts/slideLayout1.xml" Id="R177cd175254b4317" /><Relationship Type="http://schemas.openxmlformats.org/officeDocument/2006/relationships/slideLayout" Target="/ppt/slideLayouts/slideLayout2.xml" Id="R6fe645c77a234d35" /><Relationship Type="http://schemas.openxmlformats.org/officeDocument/2006/relationships/slideLayout" Target="/ppt/slideLayouts/slideLayout3.xml" Id="R47a033da52b94a3b" /><Relationship Type="http://schemas.openxmlformats.org/officeDocument/2006/relationships/slideLayout" Target="/ppt/slideLayouts/slideLayout4.xml" Id="Rdf900984018e4c15" /><Relationship Type="http://schemas.openxmlformats.org/officeDocument/2006/relationships/slideLayout" Target="/ppt/slideLayouts/slideLayout5.xml" Id="Ra692f32efad34445" /><Relationship Type="http://schemas.openxmlformats.org/officeDocument/2006/relationships/slideLayout" Target="/ppt/slideLayouts/slideLayout6.xml" Id="R3cf5dc7993f841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7cd175254b4317"/>
    <p:sldLayoutId xmlns:r="http://schemas.openxmlformats.org/officeDocument/2006/relationships" id="2147483650" r:id="R6fe645c77a234d35"/>
    <p:sldLayoutId xmlns:r="http://schemas.openxmlformats.org/officeDocument/2006/relationships" id="2147483651" r:id="R47a033da52b94a3b"/>
    <p:sldLayoutId xmlns:r="http://schemas.openxmlformats.org/officeDocument/2006/relationships" id="2147483652" r:id="Rdf900984018e4c15"/>
    <p:sldLayoutId xmlns:r="http://schemas.openxmlformats.org/officeDocument/2006/relationships" id="2147483653" r:id="Ra692f32efad34445"/>
    <p:sldLayoutId xmlns:r="http://schemas.openxmlformats.org/officeDocument/2006/relationships" id="2147483654" r:id="R3cf5dc7993f841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8d90fe7d6f54b51" /><Relationship Type="http://schemas.openxmlformats.org/officeDocument/2006/relationships/notesSlide" Target="/ppt/notesSlides/notesSlide1.xml" Id="R8357fbe4166745f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e9e975efe7e4b76" /><Relationship Type="http://schemas.openxmlformats.org/officeDocument/2006/relationships/notesSlide" Target="/ppt/notesSlides/notesSlide2.xml" Id="R48dee6b290b24a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f53feb8716543af" /><Relationship Type="http://schemas.openxmlformats.org/officeDocument/2006/relationships/notesSlide" Target="/ppt/notesSlides/notesSlide3.xml" Id="R7a14f1b345f0412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b37d8ffa44f4b42" /><Relationship Type="http://schemas.openxmlformats.org/officeDocument/2006/relationships/notesSlide" Target="/ppt/notesSlides/notesSlide4.xml" Id="R2ba122f6285b4500" /></Relationships>
</file>

<file path=ppt/slides/slide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C3CE20D-912C-4D5A-A229-614934A41D80}"/>
              </a:ext>
            </a:extLst>
          </p:cNvPr>
          <p:cNvSpPr>
            <a:spLocks xmlns:a="http://schemas.openxmlformats.org/drawingml/2006/main" noGrp="1"/>
          </p:cNvSpPr>
          <p:nvPr/>
        </p:nvSpPr>
        <p:spPr>
          <a:xfrm xmlns:a="http://schemas.openxmlformats.org/drawingml/2006/main">
            <a:off x="628650" y="49530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5E6F75"/>
                </a:solidFill>
                <a:latin typeface="Avenir Next"/>
                <a:ea typeface="Avenir Next"/>
                <a:cs typeface="Avenir Next"/>
              </a:defRPr>
            </a:defPPr>
            <a:lvl1pPr algn="l">
              <a:defRPr sz="975" b="1">
                <a:solidFill>
                  <a:srgbClr val="5E6F75"/>
                </a:solidFill>
                <a:latin typeface="Avenir Next"/>
                <a:ea typeface="Avenir Next"/>
                <a:cs typeface="Avenir Next"/>
              </a:defRPr>
            </a:lvl1pPr>
            <a:lvl2pPr algn="l">
              <a:defRPr sz="975" b="1">
                <a:solidFill>
                  <a:srgbClr val="5E6F75"/>
                </a:solidFill>
                <a:latin typeface="Avenir Next"/>
                <a:ea typeface="Avenir Next"/>
                <a:cs typeface="Avenir Next"/>
              </a:defRPr>
            </a:lvl2pPr>
            <a:lvl3pPr algn="l">
              <a:defRPr sz="975" b="1">
                <a:solidFill>
                  <a:srgbClr val="5E6F75"/>
                </a:solidFill>
                <a:latin typeface="Avenir Next"/>
                <a:ea typeface="Avenir Next"/>
                <a:cs typeface="Avenir Next"/>
              </a:defRPr>
            </a:lvl3pPr>
            <a:lvl4pPr algn="l">
              <a:defRPr sz="975" b="1">
                <a:solidFill>
                  <a:srgbClr val="5E6F75"/>
                </a:solidFill>
                <a:latin typeface="Avenir Next"/>
                <a:ea typeface="Avenir Next"/>
                <a:cs typeface="Avenir Next"/>
              </a:defRPr>
            </a:lvl4pPr>
            <a:lvl5pPr algn="l">
              <a:defRPr sz="975" b="1">
                <a:solidFill>
                  <a:srgbClr val="5E6F75"/>
                </a:solidFill>
                <a:latin typeface="Avenir Next"/>
                <a:ea typeface="Avenir Next"/>
                <a:cs typeface="Avenir Next"/>
              </a:defRPr>
            </a:lvl5pPr>
            <a:lvl6pPr algn="l">
              <a:defRPr sz="975" b="1">
                <a:solidFill>
                  <a:srgbClr val="5E6F75"/>
                </a:solidFill>
                <a:latin typeface="Avenir Next"/>
                <a:ea typeface="Avenir Next"/>
                <a:cs typeface="Avenir Next"/>
              </a:defRPr>
            </a:lvl6pPr>
            <a:lvl7pPr algn="l">
              <a:defRPr sz="975" b="1">
                <a:solidFill>
                  <a:srgbClr val="5E6F75"/>
                </a:solidFill>
                <a:latin typeface="Avenir Next"/>
                <a:ea typeface="Avenir Next"/>
                <a:cs typeface="Avenir Next"/>
              </a:defRPr>
            </a:lvl7pPr>
            <a:lvl8pPr algn="l">
              <a:defRPr sz="975" b="1">
                <a:solidFill>
                  <a:srgbClr val="5E6F75"/>
                </a:solidFill>
                <a:latin typeface="Avenir Next"/>
                <a:ea typeface="Avenir Next"/>
                <a:cs typeface="Avenir Next"/>
              </a:defRPr>
            </a:lvl8pPr>
            <a:lvl9pPr algn="l">
              <a:defRPr sz="975" b="1">
                <a:solidFill>
                  <a:srgbClr val="5E6F75"/>
                </a:solidFill>
                <a:latin typeface="Avenir Next"/>
                <a:ea typeface="Avenir Next"/>
                <a:cs typeface="Avenir Next"/>
              </a:defRPr>
            </a:lvl9pPr>
          </a:lstStyle>
          <a:p xmlns:a="http://schemas.openxmlformats.org/drawingml/2006/main">
            <a:pPr algn="l">
              <a:defRPr sz="975" b="1">
                <a:solidFill>
                  <a:srgbClr val="5E6F75"/>
                </a:solidFill>
                <a:latin typeface="Avenir Next"/>
                <a:ea typeface="Avenir Next"/>
                <a:cs typeface="Avenir Next"/>
              </a:defRPr>
            </a:pPr>
            <a:r>
              <a:rPr sz="975" b="1">
                <a:solidFill>
                  <a:srgbClr val="5E6F75"/>
                </a:solidFill>
                <a:latin typeface="Avenir Next"/>
                <a:ea typeface="Avenir Next"/>
                <a:cs typeface="Avenir Next"/>
              </a:rPr>
              <a:t>IBM Z DATATHON 2026     ·     TEAM TOKENMAXXERS</a:t>
            </a:r>
          </a:p>
        </p:txBody>
      </p:sp>
      <p:sp>
        <p:nvSpPr>
          <p:cNvPr id="2" name="">
            <a:extLst xmlns:a="http://schemas.openxmlformats.org/drawingml/2006/main">
              <a:ext uri="{FF2B5EF4-FFF2-40B4-BE49-F238E27FC236}">
                <a16:creationId xmlns:a16="http://schemas.microsoft.com/office/drawing/2014/main" id="{8CBDA27B-27F1-4982-B227-8C17FE18A3E7}"/>
              </a:ext>
            </a:extLst>
          </p:cNvPr>
          <p:cNvSpPr>
            <a:spLocks xmlns:a="http://schemas.openxmlformats.org/drawingml/2006/main" noGrp="1"/>
          </p:cNvSpPr>
          <p:nvPr/>
        </p:nvSpPr>
        <p:spPr>
          <a:xfrm xmlns:a="http://schemas.openxmlformats.org/drawingml/2006/main">
            <a:off x="628650" y="1381125"/>
            <a:ext cx="66675" cy="3333750"/>
          </a:xfrm>
          <a:prstGeom xmlns:a="http://schemas.openxmlformats.org/drawingml/2006/main" prst="rect">
            <a:avLst/>
          </a:prstGeom>
          <a:solidFill xmlns:a="http://schemas.openxmlformats.org/drawingml/2006/main">
            <a:srgbClr val="1D716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A06B092-2344-4A4B-B7DC-87DCB73006F2}"/>
              </a:ext>
            </a:extLst>
          </p:cNvPr>
          <p:cNvSpPr>
            <a:spLocks xmlns:a="http://schemas.openxmlformats.org/drawingml/2006/main" noGrp="1"/>
          </p:cNvSpPr>
          <p:nvPr/>
        </p:nvSpPr>
        <p:spPr>
          <a:xfrm xmlns:a="http://schemas.openxmlformats.org/drawingml/2006/main">
            <a:off x="914400" y="1447800"/>
            <a:ext cx="9525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950" b="1">
                <a:solidFill>
                  <a:srgbClr val="192C36"/>
                </a:solidFill>
                <a:latin typeface="Avenir Next"/>
                <a:ea typeface="Avenir Next"/>
                <a:cs typeface="Avenir Next"/>
              </a:defRPr>
            </a:defPPr>
            <a:lvl1pPr algn="l">
              <a:defRPr sz="4950" b="1">
                <a:solidFill>
                  <a:srgbClr val="192C36"/>
                </a:solidFill>
                <a:latin typeface="Avenir Next"/>
                <a:ea typeface="Avenir Next"/>
                <a:cs typeface="Avenir Next"/>
              </a:defRPr>
            </a:lvl1pPr>
            <a:lvl2pPr algn="l">
              <a:defRPr sz="4950" b="1">
                <a:solidFill>
                  <a:srgbClr val="192C36"/>
                </a:solidFill>
                <a:latin typeface="Avenir Next"/>
                <a:ea typeface="Avenir Next"/>
                <a:cs typeface="Avenir Next"/>
              </a:defRPr>
            </a:lvl2pPr>
            <a:lvl3pPr algn="l">
              <a:defRPr sz="4950" b="1">
                <a:solidFill>
                  <a:srgbClr val="192C36"/>
                </a:solidFill>
                <a:latin typeface="Avenir Next"/>
                <a:ea typeface="Avenir Next"/>
                <a:cs typeface="Avenir Next"/>
              </a:defRPr>
            </a:lvl3pPr>
            <a:lvl4pPr algn="l">
              <a:defRPr sz="4950" b="1">
                <a:solidFill>
                  <a:srgbClr val="192C36"/>
                </a:solidFill>
                <a:latin typeface="Avenir Next"/>
                <a:ea typeface="Avenir Next"/>
                <a:cs typeface="Avenir Next"/>
              </a:defRPr>
            </a:lvl4pPr>
            <a:lvl5pPr algn="l">
              <a:defRPr sz="4950" b="1">
                <a:solidFill>
                  <a:srgbClr val="192C36"/>
                </a:solidFill>
                <a:latin typeface="Avenir Next"/>
                <a:ea typeface="Avenir Next"/>
                <a:cs typeface="Avenir Next"/>
              </a:defRPr>
            </a:lvl5pPr>
            <a:lvl6pPr algn="l">
              <a:defRPr sz="4950" b="1">
                <a:solidFill>
                  <a:srgbClr val="192C36"/>
                </a:solidFill>
                <a:latin typeface="Avenir Next"/>
                <a:ea typeface="Avenir Next"/>
                <a:cs typeface="Avenir Next"/>
              </a:defRPr>
            </a:lvl6pPr>
            <a:lvl7pPr algn="l">
              <a:defRPr sz="4950" b="1">
                <a:solidFill>
                  <a:srgbClr val="192C36"/>
                </a:solidFill>
                <a:latin typeface="Avenir Next"/>
                <a:ea typeface="Avenir Next"/>
                <a:cs typeface="Avenir Next"/>
              </a:defRPr>
            </a:lvl7pPr>
            <a:lvl8pPr algn="l">
              <a:defRPr sz="4950" b="1">
                <a:solidFill>
                  <a:srgbClr val="192C36"/>
                </a:solidFill>
                <a:latin typeface="Avenir Next"/>
                <a:ea typeface="Avenir Next"/>
                <a:cs typeface="Avenir Next"/>
              </a:defRPr>
            </a:lvl8pPr>
            <a:lvl9pPr algn="l">
              <a:defRPr sz="4950" b="1">
                <a:solidFill>
                  <a:srgbClr val="192C36"/>
                </a:solidFill>
                <a:latin typeface="Avenir Next"/>
                <a:ea typeface="Avenir Next"/>
                <a:cs typeface="Avenir Next"/>
              </a:defRPr>
            </a:lvl9pPr>
          </a:lstStyle>
          <a:p xmlns:a="http://schemas.openxmlformats.org/drawingml/2006/main">
            <a:pPr algn="l">
              <a:defRPr sz="4950" b="1">
                <a:solidFill>
                  <a:srgbClr val="192C36"/>
                </a:solidFill>
                <a:latin typeface="Avenir Next"/>
                <a:ea typeface="Avenir Next"/>
                <a:cs typeface="Avenir Next"/>
              </a:defRPr>
            </a:pPr>
            <a:r>
              <a:rPr sz="4950" b="1">
                <a:solidFill>
                  <a:srgbClr val="192C36"/>
                </a:solidFill>
                <a:latin typeface="Avenir Next"/>
                <a:ea typeface="Avenir Next"/>
                <a:cs typeface="Avenir Next"/>
              </a:rPr>
              <a:t>SpellBreaker</a:t>
            </a:r>
          </a:p>
        </p:txBody>
      </p:sp>
      <p:sp>
        <p:nvSpPr>
          <p:cNvPr id="4" name="">
            <a:extLst xmlns:a="http://schemas.openxmlformats.org/drawingml/2006/main">
              <a:ext uri="{FF2B5EF4-FFF2-40B4-BE49-F238E27FC236}">
                <a16:creationId xmlns:a16="http://schemas.microsoft.com/office/drawing/2014/main" id="{22B03DFD-0F46-4A85-96FC-68D4C1752280}"/>
              </a:ext>
            </a:extLst>
          </p:cNvPr>
          <p:cNvSpPr>
            <a:spLocks xmlns:a="http://schemas.openxmlformats.org/drawingml/2006/main" noGrp="1"/>
          </p:cNvSpPr>
          <p:nvPr/>
        </p:nvSpPr>
        <p:spPr>
          <a:xfrm xmlns:a="http://schemas.openxmlformats.org/drawingml/2006/main">
            <a:off x="952500" y="2562225"/>
            <a:ext cx="9334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400" b="0">
                <a:solidFill>
                  <a:srgbClr val="1D716F"/>
                </a:solidFill>
                <a:latin typeface="Avenir Next"/>
                <a:ea typeface="Avenir Next"/>
                <a:cs typeface="Avenir Next"/>
              </a:defRPr>
            </a:defPPr>
            <a:lvl1pPr algn="l">
              <a:defRPr sz="2400" b="0">
                <a:solidFill>
                  <a:srgbClr val="1D716F"/>
                </a:solidFill>
                <a:latin typeface="Avenir Next"/>
                <a:ea typeface="Avenir Next"/>
                <a:cs typeface="Avenir Next"/>
              </a:defRPr>
            </a:lvl1pPr>
            <a:lvl2pPr algn="l">
              <a:defRPr sz="2400" b="0">
                <a:solidFill>
                  <a:srgbClr val="1D716F"/>
                </a:solidFill>
                <a:latin typeface="Avenir Next"/>
                <a:ea typeface="Avenir Next"/>
                <a:cs typeface="Avenir Next"/>
              </a:defRPr>
            </a:lvl2pPr>
            <a:lvl3pPr algn="l">
              <a:defRPr sz="2400" b="0">
                <a:solidFill>
                  <a:srgbClr val="1D716F"/>
                </a:solidFill>
                <a:latin typeface="Avenir Next"/>
                <a:ea typeface="Avenir Next"/>
                <a:cs typeface="Avenir Next"/>
              </a:defRPr>
            </a:lvl3pPr>
            <a:lvl4pPr algn="l">
              <a:defRPr sz="2400" b="0">
                <a:solidFill>
                  <a:srgbClr val="1D716F"/>
                </a:solidFill>
                <a:latin typeface="Avenir Next"/>
                <a:ea typeface="Avenir Next"/>
                <a:cs typeface="Avenir Next"/>
              </a:defRPr>
            </a:lvl4pPr>
            <a:lvl5pPr algn="l">
              <a:defRPr sz="2400" b="0">
                <a:solidFill>
                  <a:srgbClr val="1D716F"/>
                </a:solidFill>
                <a:latin typeface="Avenir Next"/>
                <a:ea typeface="Avenir Next"/>
                <a:cs typeface="Avenir Next"/>
              </a:defRPr>
            </a:lvl5pPr>
            <a:lvl6pPr algn="l">
              <a:defRPr sz="2400" b="0">
                <a:solidFill>
                  <a:srgbClr val="1D716F"/>
                </a:solidFill>
                <a:latin typeface="Avenir Next"/>
                <a:ea typeface="Avenir Next"/>
                <a:cs typeface="Avenir Next"/>
              </a:defRPr>
            </a:lvl6pPr>
            <a:lvl7pPr algn="l">
              <a:defRPr sz="2400" b="0">
                <a:solidFill>
                  <a:srgbClr val="1D716F"/>
                </a:solidFill>
                <a:latin typeface="Avenir Next"/>
                <a:ea typeface="Avenir Next"/>
                <a:cs typeface="Avenir Next"/>
              </a:defRPr>
            </a:lvl7pPr>
            <a:lvl8pPr algn="l">
              <a:defRPr sz="2400" b="0">
                <a:solidFill>
                  <a:srgbClr val="1D716F"/>
                </a:solidFill>
                <a:latin typeface="Avenir Next"/>
                <a:ea typeface="Avenir Next"/>
                <a:cs typeface="Avenir Next"/>
              </a:defRPr>
            </a:lvl8pPr>
            <a:lvl9pPr algn="l">
              <a:defRPr sz="2400" b="0">
                <a:solidFill>
                  <a:srgbClr val="1D716F"/>
                </a:solidFill>
                <a:latin typeface="Avenir Next"/>
                <a:ea typeface="Avenir Next"/>
                <a:cs typeface="Avenir Next"/>
              </a:defRPr>
            </a:lvl9pPr>
          </a:lstStyle>
          <a:p xmlns:a="http://schemas.openxmlformats.org/drawingml/2006/main">
            <a:pPr algn="l">
              <a:defRPr sz="2400" b="0">
                <a:solidFill>
                  <a:srgbClr val="1D716F"/>
                </a:solidFill>
                <a:latin typeface="Avenir Next"/>
                <a:ea typeface="Avenir Next"/>
                <a:cs typeface="Avenir Next"/>
              </a:defRPr>
            </a:pPr>
            <a:r>
              <a:rPr sz="2400" b="0">
                <a:solidFill>
                  <a:srgbClr val="1D716F"/>
                </a:solidFill>
                <a:latin typeface="Avenir Next"/>
                <a:ea typeface="Avenir Next"/>
                <a:cs typeface="Avenir Next"/>
              </a:rPr>
              <a:t>A real-time check for the moment</a:t>
            </a:r>
          </a:p>
          <a:p xmlns:a="http://schemas.openxmlformats.org/drawingml/2006/main">
            <a:pPr algn="l">
              <a:defRPr sz="2400" b="0">
                <a:solidFill>
                  <a:srgbClr val="1D716F"/>
                </a:solidFill>
                <a:latin typeface="Avenir Next"/>
                <a:ea typeface="Avenir Next"/>
                <a:cs typeface="Avenir Next"/>
              </a:defRPr>
            </a:pPr>
            <a:r>
              <a:rPr sz="2400" b="0">
                <a:solidFill>
                  <a:srgbClr val="1D716F"/>
                </a:solidFill>
                <a:latin typeface="Avenir Next"/>
                <a:ea typeface="Avenir Next"/>
                <a:cs typeface="Avenir Next"/>
              </a:rPr>
              <a:t>a genuine customer is pressured to pay.</a:t>
            </a:r>
          </a:p>
        </p:txBody>
      </p:sp>
      <p:sp>
        <p:nvSpPr>
          <p:cNvPr id="5" name="">
            <a:extLst xmlns:a="http://schemas.openxmlformats.org/drawingml/2006/main">
              <a:ext uri="{FF2B5EF4-FFF2-40B4-BE49-F238E27FC236}">
                <a16:creationId xmlns:a16="http://schemas.microsoft.com/office/drawing/2014/main" id="{A2CC95C3-51C9-4618-B7C3-10296FABD7A9}"/>
              </a:ext>
            </a:extLst>
          </p:cNvPr>
          <p:cNvSpPr>
            <a:spLocks xmlns:a="http://schemas.openxmlformats.org/drawingml/2006/main" noGrp="1"/>
          </p:cNvSpPr>
          <p:nvPr/>
        </p:nvSpPr>
        <p:spPr>
          <a:xfrm xmlns:a="http://schemas.openxmlformats.org/drawingml/2006/main">
            <a:off x="952500" y="4095750"/>
            <a:ext cx="9334500" cy="19050"/>
          </a:xfrm>
          <a:prstGeom xmlns:a="http://schemas.openxmlformats.org/drawingml/2006/main" prst="rect">
            <a:avLst/>
          </a:prstGeom>
          <a:solidFill xmlns:a="http://schemas.openxmlformats.org/drawingml/2006/main">
            <a:srgbClr val="C9D2C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AF2725E-18F2-4756-8377-D7AFB1A76C1E}"/>
              </a:ext>
            </a:extLst>
          </p:cNvPr>
          <p:cNvSpPr>
            <a:spLocks xmlns:a="http://schemas.openxmlformats.org/drawingml/2006/main" noGrp="1"/>
          </p:cNvSpPr>
          <p:nvPr/>
        </p:nvSpPr>
        <p:spPr>
          <a:xfrm xmlns:a="http://schemas.openxmlformats.org/drawingml/2006/main">
            <a:off x="952500" y="4333875"/>
            <a:ext cx="685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92C36"/>
                </a:solidFill>
                <a:latin typeface="Avenir Next"/>
                <a:ea typeface="Avenir Next"/>
                <a:cs typeface="Avenir Next"/>
              </a:defRPr>
            </a:defPPr>
            <a:lvl1pPr algn="l">
              <a:defRPr sz="1425" b="1">
                <a:solidFill>
                  <a:srgbClr val="192C36"/>
                </a:solidFill>
                <a:latin typeface="Avenir Next"/>
                <a:ea typeface="Avenir Next"/>
                <a:cs typeface="Avenir Next"/>
              </a:defRPr>
            </a:lvl1pPr>
            <a:lvl2pPr algn="l">
              <a:defRPr sz="1425" b="1">
                <a:solidFill>
                  <a:srgbClr val="192C36"/>
                </a:solidFill>
                <a:latin typeface="Avenir Next"/>
                <a:ea typeface="Avenir Next"/>
                <a:cs typeface="Avenir Next"/>
              </a:defRPr>
            </a:lvl2pPr>
            <a:lvl3pPr algn="l">
              <a:defRPr sz="1425" b="1">
                <a:solidFill>
                  <a:srgbClr val="192C36"/>
                </a:solidFill>
                <a:latin typeface="Avenir Next"/>
                <a:ea typeface="Avenir Next"/>
                <a:cs typeface="Avenir Next"/>
              </a:defRPr>
            </a:lvl3pPr>
            <a:lvl4pPr algn="l">
              <a:defRPr sz="1425" b="1">
                <a:solidFill>
                  <a:srgbClr val="192C36"/>
                </a:solidFill>
                <a:latin typeface="Avenir Next"/>
                <a:ea typeface="Avenir Next"/>
                <a:cs typeface="Avenir Next"/>
              </a:defRPr>
            </a:lvl4pPr>
            <a:lvl5pPr algn="l">
              <a:defRPr sz="1425" b="1">
                <a:solidFill>
                  <a:srgbClr val="192C36"/>
                </a:solidFill>
                <a:latin typeface="Avenir Next"/>
                <a:ea typeface="Avenir Next"/>
                <a:cs typeface="Avenir Next"/>
              </a:defRPr>
            </a:lvl5pPr>
            <a:lvl6pPr algn="l">
              <a:defRPr sz="1425" b="1">
                <a:solidFill>
                  <a:srgbClr val="192C36"/>
                </a:solidFill>
                <a:latin typeface="Avenir Next"/>
                <a:ea typeface="Avenir Next"/>
                <a:cs typeface="Avenir Next"/>
              </a:defRPr>
            </a:lvl6pPr>
            <a:lvl7pPr algn="l">
              <a:defRPr sz="1425" b="1">
                <a:solidFill>
                  <a:srgbClr val="192C36"/>
                </a:solidFill>
                <a:latin typeface="Avenir Next"/>
                <a:ea typeface="Avenir Next"/>
                <a:cs typeface="Avenir Next"/>
              </a:defRPr>
            </a:lvl7pPr>
            <a:lvl8pPr algn="l">
              <a:defRPr sz="1425" b="1">
                <a:solidFill>
                  <a:srgbClr val="192C36"/>
                </a:solidFill>
                <a:latin typeface="Avenir Next"/>
                <a:ea typeface="Avenir Next"/>
                <a:cs typeface="Avenir Next"/>
              </a:defRPr>
            </a:lvl8pPr>
            <a:lvl9pPr algn="l">
              <a:defRPr sz="1425" b="1">
                <a:solidFill>
                  <a:srgbClr val="192C36"/>
                </a:solidFill>
                <a:latin typeface="Avenir Next"/>
                <a:ea typeface="Avenir Next"/>
                <a:cs typeface="Avenir Next"/>
              </a:defRPr>
            </a:lvl9pPr>
          </a:lstStyle>
          <a:p xmlns:a="http://schemas.openxmlformats.org/drawingml/2006/main">
            <a:pPr algn="l">
              <a:defRPr sz="1425" b="1">
                <a:solidFill>
                  <a:srgbClr val="192C36"/>
                </a:solidFill>
                <a:latin typeface="Avenir Next"/>
                <a:ea typeface="Avenir Next"/>
                <a:cs typeface="Avenir Next"/>
              </a:defRPr>
            </a:pPr>
            <a:r>
              <a:rPr sz="1425" b="1">
                <a:solidFill>
                  <a:srgbClr val="192C36"/>
                </a:solidFill>
                <a:latin typeface="Avenir Next"/>
                <a:ea typeface="Avenir Next"/>
                <a:cs typeface="Avenir Next"/>
              </a:rPr>
              <a:t>Transfer risk  /  scam type  /  receiver risk</a:t>
            </a:r>
          </a:p>
        </p:txBody>
      </p:sp>
      <p:sp>
        <p:nvSpPr>
          <p:cNvPr id="7" name="">
            <a:extLst xmlns:a="http://schemas.openxmlformats.org/drawingml/2006/main">
              <a:ext uri="{FF2B5EF4-FFF2-40B4-BE49-F238E27FC236}">
                <a16:creationId xmlns:a16="http://schemas.microsoft.com/office/drawing/2014/main" id="{E536D7DC-8A3B-4D31-A7E2-B244831A3896}"/>
              </a:ext>
            </a:extLst>
          </p:cNvPr>
          <p:cNvSpPr>
            <a:spLocks xmlns:a="http://schemas.openxmlformats.org/drawingml/2006/main" noGrp="1"/>
          </p:cNvSpPr>
          <p:nvPr/>
        </p:nvSpPr>
        <p:spPr>
          <a:xfrm xmlns:a="http://schemas.openxmlformats.org/drawingml/2006/main">
            <a:off x="952500" y="4819650"/>
            <a:ext cx="828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E6F75"/>
                </a:solidFill>
                <a:latin typeface="Avenir Next"/>
                <a:ea typeface="Avenir Next"/>
                <a:cs typeface="Avenir Next"/>
              </a:defRPr>
            </a:defPPr>
            <a:lvl1pPr algn="l">
              <a:defRPr sz="1350" b="0">
                <a:solidFill>
                  <a:srgbClr val="5E6F75"/>
                </a:solidFill>
                <a:latin typeface="Avenir Next"/>
                <a:ea typeface="Avenir Next"/>
                <a:cs typeface="Avenir Next"/>
              </a:defRPr>
            </a:lvl1pPr>
            <a:lvl2pPr algn="l">
              <a:defRPr sz="1350" b="0">
                <a:solidFill>
                  <a:srgbClr val="5E6F75"/>
                </a:solidFill>
                <a:latin typeface="Avenir Next"/>
                <a:ea typeface="Avenir Next"/>
                <a:cs typeface="Avenir Next"/>
              </a:defRPr>
            </a:lvl2pPr>
            <a:lvl3pPr algn="l">
              <a:defRPr sz="1350" b="0">
                <a:solidFill>
                  <a:srgbClr val="5E6F75"/>
                </a:solidFill>
                <a:latin typeface="Avenir Next"/>
                <a:ea typeface="Avenir Next"/>
                <a:cs typeface="Avenir Next"/>
              </a:defRPr>
            </a:lvl3pPr>
            <a:lvl4pPr algn="l">
              <a:defRPr sz="1350" b="0">
                <a:solidFill>
                  <a:srgbClr val="5E6F75"/>
                </a:solidFill>
                <a:latin typeface="Avenir Next"/>
                <a:ea typeface="Avenir Next"/>
                <a:cs typeface="Avenir Next"/>
              </a:defRPr>
            </a:lvl4pPr>
            <a:lvl5pPr algn="l">
              <a:defRPr sz="1350" b="0">
                <a:solidFill>
                  <a:srgbClr val="5E6F75"/>
                </a:solidFill>
                <a:latin typeface="Avenir Next"/>
                <a:ea typeface="Avenir Next"/>
                <a:cs typeface="Avenir Next"/>
              </a:defRPr>
            </a:lvl5pPr>
            <a:lvl6pPr algn="l">
              <a:defRPr sz="1350" b="0">
                <a:solidFill>
                  <a:srgbClr val="5E6F75"/>
                </a:solidFill>
                <a:latin typeface="Avenir Next"/>
                <a:ea typeface="Avenir Next"/>
                <a:cs typeface="Avenir Next"/>
              </a:defRPr>
            </a:lvl6pPr>
            <a:lvl7pPr algn="l">
              <a:defRPr sz="1350" b="0">
                <a:solidFill>
                  <a:srgbClr val="5E6F75"/>
                </a:solidFill>
                <a:latin typeface="Avenir Next"/>
                <a:ea typeface="Avenir Next"/>
                <a:cs typeface="Avenir Next"/>
              </a:defRPr>
            </a:lvl7pPr>
            <a:lvl8pPr algn="l">
              <a:defRPr sz="1350" b="0">
                <a:solidFill>
                  <a:srgbClr val="5E6F75"/>
                </a:solidFill>
                <a:latin typeface="Avenir Next"/>
                <a:ea typeface="Avenir Next"/>
                <a:cs typeface="Avenir Next"/>
              </a:defRPr>
            </a:lvl8pPr>
            <a:lvl9pPr algn="l">
              <a:defRPr sz="1350" b="0">
                <a:solidFill>
                  <a:srgbClr val="5E6F75"/>
                </a:solidFill>
                <a:latin typeface="Avenir Next"/>
                <a:ea typeface="Avenir Next"/>
                <a:cs typeface="Avenir Next"/>
              </a:defRPr>
            </a:lvl9pPr>
          </a:lstStyle>
          <a:p xmlns:a="http://schemas.openxmlformats.org/drawingml/2006/main">
            <a:pPr algn="l">
              <a:defRPr sz="1350" b="0">
                <a:solidFill>
                  <a:srgbClr val="5E6F75"/>
                </a:solidFill>
                <a:latin typeface="Avenir Next"/>
                <a:ea typeface="Avenir Next"/>
                <a:cs typeface="Avenir Next"/>
              </a:defRPr>
            </a:pPr>
            <a:r>
              <a:rPr sz="1350" b="0">
                <a:solidFill>
                  <a:srgbClr val="5E6F75"/>
                </a:solidFill>
                <a:latin typeface="Avenir Next"/>
                <a:ea typeface="Avenir Next"/>
                <a:cs typeface="Avenir Next"/>
              </a:rPr>
              <a:t>We score the transfer, then help the bank choose a safer next step.</a:t>
            </a:r>
          </a:p>
        </p:txBody>
      </p:sp>
      <p:sp>
        <p:nvSpPr>
          <p:cNvPr id="8" name="">
            <a:extLst xmlns:a="http://schemas.openxmlformats.org/drawingml/2006/main">
              <a:ext uri="{FF2B5EF4-FFF2-40B4-BE49-F238E27FC236}">
                <a16:creationId xmlns:a16="http://schemas.microsoft.com/office/drawing/2014/main" id="{68DC0074-CE4E-427D-AB3B-3C69B553C46A}"/>
              </a:ext>
            </a:extLst>
          </p:cNvPr>
          <p:cNvSpPr>
            <a:spLocks xmlns:a="http://schemas.openxmlformats.org/drawingml/2006/main" noGrp="1"/>
          </p:cNvSpPr>
          <p:nvPr/>
        </p:nvSpPr>
        <p:spPr>
          <a:xfrm xmlns:a="http://schemas.openxmlformats.org/drawingml/2006/main">
            <a:off x="952500" y="5953125"/>
            <a:ext cx="1000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5E6F75"/>
                </a:solidFill>
                <a:latin typeface="Avenir Next"/>
                <a:ea typeface="Avenir Next"/>
                <a:cs typeface="Avenir Next"/>
              </a:defRPr>
            </a:defPPr>
            <a:lvl1pPr algn="l">
              <a:defRPr sz="975" b="0">
                <a:solidFill>
                  <a:srgbClr val="5E6F75"/>
                </a:solidFill>
                <a:latin typeface="Avenir Next"/>
                <a:ea typeface="Avenir Next"/>
                <a:cs typeface="Avenir Next"/>
              </a:defRPr>
            </a:lvl1pPr>
            <a:lvl2pPr algn="l">
              <a:defRPr sz="975" b="0">
                <a:solidFill>
                  <a:srgbClr val="5E6F75"/>
                </a:solidFill>
                <a:latin typeface="Avenir Next"/>
                <a:ea typeface="Avenir Next"/>
                <a:cs typeface="Avenir Next"/>
              </a:defRPr>
            </a:lvl2pPr>
            <a:lvl3pPr algn="l">
              <a:defRPr sz="975" b="0">
                <a:solidFill>
                  <a:srgbClr val="5E6F75"/>
                </a:solidFill>
                <a:latin typeface="Avenir Next"/>
                <a:ea typeface="Avenir Next"/>
                <a:cs typeface="Avenir Next"/>
              </a:defRPr>
            </a:lvl3pPr>
            <a:lvl4pPr algn="l">
              <a:defRPr sz="975" b="0">
                <a:solidFill>
                  <a:srgbClr val="5E6F75"/>
                </a:solidFill>
                <a:latin typeface="Avenir Next"/>
                <a:ea typeface="Avenir Next"/>
                <a:cs typeface="Avenir Next"/>
              </a:defRPr>
            </a:lvl4pPr>
            <a:lvl5pPr algn="l">
              <a:defRPr sz="975" b="0">
                <a:solidFill>
                  <a:srgbClr val="5E6F75"/>
                </a:solidFill>
                <a:latin typeface="Avenir Next"/>
                <a:ea typeface="Avenir Next"/>
                <a:cs typeface="Avenir Next"/>
              </a:defRPr>
            </a:lvl5pPr>
            <a:lvl6pPr algn="l">
              <a:defRPr sz="975" b="0">
                <a:solidFill>
                  <a:srgbClr val="5E6F75"/>
                </a:solidFill>
                <a:latin typeface="Avenir Next"/>
                <a:ea typeface="Avenir Next"/>
                <a:cs typeface="Avenir Next"/>
              </a:defRPr>
            </a:lvl6pPr>
            <a:lvl7pPr algn="l">
              <a:defRPr sz="975" b="0">
                <a:solidFill>
                  <a:srgbClr val="5E6F75"/>
                </a:solidFill>
                <a:latin typeface="Avenir Next"/>
                <a:ea typeface="Avenir Next"/>
                <a:cs typeface="Avenir Next"/>
              </a:defRPr>
            </a:lvl7pPr>
            <a:lvl8pPr algn="l">
              <a:defRPr sz="975" b="0">
                <a:solidFill>
                  <a:srgbClr val="5E6F75"/>
                </a:solidFill>
                <a:latin typeface="Avenir Next"/>
                <a:ea typeface="Avenir Next"/>
                <a:cs typeface="Avenir Next"/>
              </a:defRPr>
            </a:lvl8pPr>
            <a:lvl9pPr algn="l">
              <a:defRPr sz="975" b="0">
                <a:solidFill>
                  <a:srgbClr val="5E6F75"/>
                </a:solidFill>
                <a:latin typeface="Avenir Next"/>
                <a:ea typeface="Avenir Next"/>
                <a:cs typeface="Avenir Next"/>
              </a:defRPr>
            </a:lvl9pPr>
          </a:lstStyle>
          <a:p xmlns:a="http://schemas.openxmlformats.org/drawingml/2006/main">
            <a:pPr algn="l">
              <a:defRPr sz="975" b="0">
                <a:solidFill>
                  <a:srgbClr val="5E6F75"/>
                </a:solidFill>
                <a:latin typeface="Avenir Next"/>
                <a:ea typeface="Avenir Next"/>
                <a:cs typeface="Avenir Next"/>
              </a:defRPr>
            </a:pPr>
            <a:r>
              <a:rPr sz="975" b="0">
                <a:solidFill>
                  <a:srgbClr val="5E6F75"/>
                </a:solidFill>
                <a:latin typeface="Avenir Next"/>
                <a:ea typeface="Avenir Next"/>
                <a:cs typeface="Avenir Next"/>
              </a:rPr>
              <a:t>Karthik Manda  ·  Pranay Kanth Molugu  ·  Sai Prakash Reddy  ·  Amrutha Vanaparthi</a:t>
            </a:r>
          </a:p>
        </p:txBody>
      </p:sp>
      <p:sp>
        <p:nvSpPr>
          <p:cNvPr id="9" name="">
            <a:extLst xmlns:a="http://schemas.openxmlformats.org/drawingml/2006/main">
              <a:ext uri="{FF2B5EF4-FFF2-40B4-BE49-F238E27FC236}">
                <a16:creationId xmlns:a16="http://schemas.microsoft.com/office/drawing/2014/main" id="{A23DAE11-65D2-41E3-A2B2-FB3E7D3A71FE}"/>
              </a:ext>
            </a:extLst>
          </p:cNvPr>
          <p:cNvSpPr>
            <a:spLocks xmlns:a="http://schemas.openxmlformats.org/drawingml/2006/main" noGrp="1"/>
          </p:cNvSpPr>
          <p:nvPr/>
        </p:nvSpPr>
        <p:spPr>
          <a:xfrm xmlns:a="http://schemas.openxmlformats.org/drawingml/2006/main">
            <a:off x="11144250" y="64198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5E6F75"/>
                </a:solidFill>
                <a:latin typeface="Avenir Next"/>
                <a:ea typeface="Avenir Next"/>
                <a:cs typeface="Avenir Next"/>
              </a:defRPr>
            </a:defPPr>
            <a:lvl1pPr algn="r">
              <a:defRPr sz="825" b="1">
                <a:solidFill>
                  <a:srgbClr val="5E6F75"/>
                </a:solidFill>
                <a:latin typeface="Avenir Next"/>
                <a:ea typeface="Avenir Next"/>
                <a:cs typeface="Avenir Next"/>
              </a:defRPr>
            </a:lvl1pPr>
            <a:lvl2pPr algn="r">
              <a:defRPr sz="825" b="1">
                <a:solidFill>
                  <a:srgbClr val="5E6F75"/>
                </a:solidFill>
                <a:latin typeface="Avenir Next"/>
                <a:ea typeface="Avenir Next"/>
                <a:cs typeface="Avenir Next"/>
              </a:defRPr>
            </a:lvl2pPr>
            <a:lvl3pPr algn="r">
              <a:defRPr sz="825" b="1">
                <a:solidFill>
                  <a:srgbClr val="5E6F75"/>
                </a:solidFill>
                <a:latin typeface="Avenir Next"/>
                <a:ea typeface="Avenir Next"/>
                <a:cs typeface="Avenir Next"/>
              </a:defRPr>
            </a:lvl3pPr>
            <a:lvl4pPr algn="r">
              <a:defRPr sz="825" b="1">
                <a:solidFill>
                  <a:srgbClr val="5E6F75"/>
                </a:solidFill>
                <a:latin typeface="Avenir Next"/>
                <a:ea typeface="Avenir Next"/>
                <a:cs typeface="Avenir Next"/>
              </a:defRPr>
            </a:lvl4pPr>
            <a:lvl5pPr algn="r">
              <a:defRPr sz="825" b="1">
                <a:solidFill>
                  <a:srgbClr val="5E6F75"/>
                </a:solidFill>
                <a:latin typeface="Avenir Next"/>
                <a:ea typeface="Avenir Next"/>
                <a:cs typeface="Avenir Next"/>
              </a:defRPr>
            </a:lvl5pPr>
            <a:lvl6pPr algn="r">
              <a:defRPr sz="825" b="1">
                <a:solidFill>
                  <a:srgbClr val="5E6F75"/>
                </a:solidFill>
                <a:latin typeface="Avenir Next"/>
                <a:ea typeface="Avenir Next"/>
                <a:cs typeface="Avenir Next"/>
              </a:defRPr>
            </a:lvl6pPr>
            <a:lvl7pPr algn="r">
              <a:defRPr sz="825" b="1">
                <a:solidFill>
                  <a:srgbClr val="5E6F75"/>
                </a:solidFill>
                <a:latin typeface="Avenir Next"/>
                <a:ea typeface="Avenir Next"/>
                <a:cs typeface="Avenir Next"/>
              </a:defRPr>
            </a:lvl7pPr>
            <a:lvl8pPr algn="r">
              <a:defRPr sz="825" b="1">
                <a:solidFill>
                  <a:srgbClr val="5E6F75"/>
                </a:solidFill>
                <a:latin typeface="Avenir Next"/>
                <a:ea typeface="Avenir Next"/>
                <a:cs typeface="Avenir Next"/>
              </a:defRPr>
            </a:lvl8pPr>
            <a:lvl9pPr algn="r">
              <a:defRPr sz="825" b="1">
                <a:solidFill>
                  <a:srgbClr val="5E6F75"/>
                </a:solidFill>
                <a:latin typeface="Avenir Next"/>
                <a:ea typeface="Avenir Next"/>
                <a:cs typeface="Avenir Next"/>
              </a:defRPr>
            </a:lvl9pPr>
          </a:lstStyle>
          <a:p xmlns:a="http://schemas.openxmlformats.org/drawingml/2006/main">
            <a:pPr algn="r">
              <a:defRPr sz="825" b="1">
                <a:solidFill>
                  <a:srgbClr val="5E6F75"/>
                </a:solidFill>
                <a:latin typeface="Avenir Next"/>
                <a:ea typeface="Avenir Next"/>
                <a:cs typeface="Avenir Next"/>
              </a:defRPr>
            </a:pPr>
            <a:r>
              <a:rPr sz="825" b="1">
                <a:solidFill>
                  <a:srgbClr val="5E6F75"/>
                </a:solidFill>
                <a:latin typeface="Avenir Next"/>
                <a:ea typeface="Avenir Next"/>
                <a:cs typeface="Avenir Next"/>
              </a:rPr>
              <a:t>01</a:t>
            </a:r>
          </a:p>
        </p:txBody>
      </p:sp>
    </p:spTree>
    <p:extLst>
      <p:ext uri="{BB962C8B-B14F-4D97-AF65-F5344CB8AC3E}">
        <p14:creationId xmlns:p14="http://schemas.microsoft.com/office/powerpoint/2010/main" val="1555292709"/>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562BB51-72AC-4998-A38C-2D1C26DDC1DB}"/>
              </a:ext>
            </a:extLst>
          </p:cNvPr>
          <p:cNvSpPr>
            <a:spLocks xmlns:a="http://schemas.openxmlformats.org/drawingml/2006/main" noGrp="1"/>
          </p:cNvSpPr>
          <p:nvPr/>
        </p:nvSpPr>
        <p:spPr>
          <a:xfrm xmlns:a="http://schemas.openxmlformats.org/drawingml/2006/main">
            <a:off x="590550" y="32385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E6F75"/>
                </a:solidFill>
                <a:latin typeface="Avenir Next"/>
                <a:ea typeface="Avenir Next"/>
                <a:cs typeface="Avenir Next"/>
              </a:defRPr>
            </a:defPPr>
            <a:lvl1pPr algn="l">
              <a:defRPr sz="900" b="1">
                <a:solidFill>
                  <a:srgbClr val="5E6F75"/>
                </a:solidFill>
                <a:latin typeface="Avenir Next"/>
                <a:ea typeface="Avenir Next"/>
                <a:cs typeface="Avenir Next"/>
              </a:defRPr>
            </a:lvl1pPr>
            <a:lvl2pPr algn="l">
              <a:defRPr sz="900" b="1">
                <a:solidFill>
                  <a:srgbClr val="5E6F75"/>
                </a:solidFill>
                <a:latin typeface="Avenir Next"/>
                <a:ea typeface="Avenir Next"/>
                <a:cs typeface="Avenir Next"/>
              </a:defRPr>
            </a:lvl2pPr>
            <a:lvl3pPr algn="l">
              <a:defRPr sz="900" b="1">
                <a:solidFill>
                  <a:srgbClr val="5E6F75"/>
                </a:solidFill>
                <a:latin typeface="Avenir Next"/>
                <a:ea typeface="Avenir Next"/>
                <a:cs typeface="Avenir Next"/>
              </a:defRPr>
            </a:lvl3pPr>
            <a:lvl4pPr algn="l">
              <a:defRPr sz="900" b="1">
                <a:solidFill>
                  <a:srgbClr val="5E6F75"/>
                </a:solidFill>
                <a:latin typeface="Avenir Next"/>
                <a:ea typeface="Avenir Next"/>
                <a:cs typeface="Avenir Next"/>
              </a:defRPr>
            </a:lvl4pPr>
            <a:lvl5pPr algn="l">
              <a:defRPr sz="900" b="1">
                <a:solidFill>
                  <a:srgbClr val="5E6F75"/>
                </a:solidFill>
                <a:latin typeface="Avenir Next"/>
                <a:ea typeface="Avenir Next"/>
                <a:cs typeface="Avenir Next"/>
              </a:defRPr>
            </a:lvl5pPr>
            <a:lvl6pPr algn="l">
              <a:defRPr sz="900" b="1">
                <a:solidFill>
                  <a:srgbClr val="5E6F75"/>
                </a:solidFill>
                <a:latin typeface="Avenir Next"/>
                <a:ea typeface="Avenir Next"/>
                <a:cs typeface="Avenir Next"/>
              </a:defRPr>
            </a:lvl6pPr>
            <a:lvl7pPr algn="l">
              <a:defRPr sz="900" b="1">
                <a:solidFill>
                  <a:srgbClr val="5E6F75"/>
                </a:solidFill>
                <a:latin typeface="Avenir Next"/>
                <a:ea typeface="Avenir Next"/>
                <a:cs typeface="Avenir Next"/>
              </a:defRPr>
            </a:lvl7pPr>
            <a:lvl8pPr algn="l">
              <a:defRPr sz="900" b="1">
                <a:solidFill>
                  <a:srgbClr val="5E6F75"/>
                </a:solidFill>
                <a:latin typeface="Avenir Next"/>
                <a:ea typeface="Avenir Next"/>
                <a:cs typeface="Avenir Next"/>
              </a:defRPr>
            </a:lvl8pPr>
            <a:lvl9pPr algn="l">
              <a:defRPr sz="900" b="1">
                <a:solidFill>
                  <a:srgbClr val="5E6F75"/>
                </a:solidFill>
                <a:latin typeface="Avenir Next"/>
                <a:ea typeface="Avenir Next"/>
                <a:cs typeface="Avenir Next"/>
              </a:defRPr>
            </a:lvl9pPr>
          </a:lstStyle>
          <a:p xmlns:a="http://schemas.openxmlformats.org/drawingml/2006/main">
            <a:pPr algn="l">
              <a:defRPr sz="900" b="1">
                <a:solidFill>
                  <a:srgbClr val="5E6F75"/>
                </a:solidFill>
                <a:latin typeface="Avenir Next"/>
                <a:ea typeface="Avenir Next"/>
                <a:cs typeface="Avenir Next"/>
              </a:defRPr>
            </a:pPr>
            <a:r>
              <a:rPr sz="900" b="1">
                <a:solidFill>
                  <a:srgbClr val="5E6F75"/>
                </a:solidFill>
                <a:latin typeface="Avenir Next"/>
                <a:ea typeface="Avenir Next"/>
                <a:cs typeface="Avenir Next"/>
              </a:rPr>
              <a:t>TOKENMAXXERS    /    IBM Z DATATHON 2026</a:t>
            </a:r>
          </a:p>
        </p:txBody>
      </p:sp>
      <p:sp>
        <p:nvSpPr>
          <p:cNvPr id="2" name="">
            <a:extLst xmlns:a="http://schemas.openxmlformats.org/drawingml/2006/main">
              <a:ext uri="{FF2B5EF4-FFF2-40B4-BE49-F238E27FC236}">
                <a16:creationId xmlns:a16="http://schemas.microsoft.com/office/drawing/2014/main" id="{A673B346-7DFF-4148-8CF9-437FAA9A0C98}"/>
              </a:ext>
            </a:extLst>
          </p:cNvPr>
          <p:cNvSpPr>
            <a:spLocks xmlns:a="http://schemas.openxmlformats.org/drawingml/2006/main" noGrp="1"/>
          </p:cNvSpPr>
          <p:nvPr/>
        </p:nvSpPr>
        <p:spPr>
          <a:xfrm xmlns:a="http://schemas.openxmlformats.org/drawingml/2006/main">
            <a:off x="59055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0">
                <a:solidFill>
                  <a:srgbClr val="5E6F75"/>
                </a:solidFill>
                <a:latin typeface="Avenir Next"/>
                <a:ea typeface="Avenir Next"/>
                <a:cs typeface="Avenir Next"/>
              </a:defRPr>
            </a:defPPr>
            <a:lvl1pPr algn="l">
              <a:defRPr sz="825" b="0">
                <a:solidFill>
                  <a:srgbClr val="5E6F75"/>
                </a:solidFill>
                <a:latin typeface="Avenir Next"/>
                <a:ea typeface="Avenir Next"/>
                <a:cs typeface="Avenir Next"/>
              </a:defRPr>
            </a:lvl1pPr>
            <a:lvl2pPr algn="l">
              <a:defRPr sz="825" b="0">
                <a:solidFill>
                  <a:srgbClr val="5E6F75"/>
                </a:solidFill>
                <a:latin typeface="Avenir Next"/>
                <a:ea typeface="Avenir Next"/>
                <a:cs typeface="Avenir Next"/>
              </a:defRPr>
            </a:lvl2pPr>
            <a:lvl3pPr algn="l">
              <a:defRPr sz="825" b="0">
                <a:solidFill>
                  <a:srgbClr val="5E6F75"/>
                </a:solidFill>
                <a:latin typeface="Avenir Next"/>
                <a:ea typeface="Avenir Next"/>
                <a:cs typeface="Avenir Next"/>
              </a:defRPr>
            </a:lvl3pPr>
            <a:lvl4pPr algn="l">
              <a:defRPr sz="825" b="0">
                <a:solidFill>
                  <a:srgbClr val="5E6F75"/>
                </a:solidFill>
                <a:latin typeface="Avenir Next"/>
                <a:ea typeface="Avenir Next"/>
                <a:cs typeface="Avenir Next"/>
              </a:defRPr>
            </a:lvl4pPr>
            <a:lvl5pPr algn="l">
              <a:defRPr sz="825" b="0">
                <a:solidFill>
                  <a:srgbClr val="5E6F75"/>
                </a:solidFill>
                <a:latin typeface="Avenir Next"/>
                <a:ea typeface="Avenir Next"/>
                <a:cs typeface="Avenir Next"/>
              </a:defRPr>
            </a:lvl5pPr>
            <a:lvl6pPr algn="l">
              <a:defRPr sz="825" b="0">
                <a:solidFill>
                  <a:srgbClr val="5E6F75"/>
                </a:solidFill>
                <a:latin typeface="Avenir Next"/>
                <a:ea typeface="Avenir Next"/>
                <a:cs typeface="Avenir Next"/>
              </a:defRPr>
            </a:lvl6pPr>
            <a:lvl7pPr algn="l">
              <a:defRPr sz="825" b="0">
                <a:solidFill>
                  <a:srgbClr val="5E6F75"/>
                </a:solidFill>
                <a:latin typeface="Avenir Next"/>
                <a:ea typeface="Avenir Next"/>
                <a:cs typeface="Avenir Next"/>
              </a:defRPr>
            </a:lvl7pPr>
            <a:lvl8pPr algn="l">
              <a:defRPr sz="825" b="0">
                <a:solidFill>
                  <a:srgbClr val="5E6F75"/>
                </a:solidFill>
                <a:latin typeface="Avenir Next"/>
                <a:ea typeface="Avenir Next"/>
                <a:cs typeface="Avenir Next"/>
              </a:defRPr>
            </a:lvl8pPr>
            <a:lvl9pPr algn="l">
              <a:defRPr sz="825" b="0">
                <a:solidFill>
                  <a:srgbClr val="5E6F75"/>
                </a:solidFill>
                <a:latin typeface="Avenir Next"/>
                <a:ea typeface="Avenir Next"/>
                <a:cs typeface="Avenir Next"/>
              </a:defRPr>
            </a:lvl9pPr>
          </a:lstStyle>
          <a:p xmlns:a="http://schemas.openxmlformats.org/drawingml/2006/main">
            <a:pPr algn="l">
              <a:defRPr sz="825" b="0">
                <a:solidFill>
                  <a:srgbClr val="5E6F75"/>
                </a:solidFill>
                <a:latin typeface="Avenir Next"/>
                <a:ea typeface="Avenir Next"/>
                <a:cs typeface="Avenir Next"/>
              </a:defRPr>
            </a:pPr>
            <a:r>
              <a:rPr sz="825" b="0">
                <a:solidFill>
                  <a:srgbClr val="5E6F75"/>
                </a:solidFill>
                <a:latin typeface="Avenir Next"/>
                <a:ea typeface="Avenir Next"/>
                <a:cs typeface="Avenir Next"/>
              </a:rPr>
              <a:t>SPELLBREAKER   ·   THE PROBLEM</a:t>
            </a:r>
          </a:p>
        </p:txBody>
      </p:sp>
      <p:sp>
        <p:nvSpPr>
          <p:cNvPr id="3" name="">
            <a:extLst xmlns:a="http://schemas.openxmlformats.org/drawingml/2006/main">
              <a:ext uri="{FF2B5EF4-FFF2-40B4-BE49-F238E27FC236}">
                <a16:creationId xmlns:a16="http://schemas.microsoft.com/office/drawing/2014/main" id="{F647475B-213A-4C26-B258-4A67D57660EB}"/>
              </a:ext>
            </a:extLst>
          </p:cNvPr>
          <p:cNvSpPr>
            <a:spLocks xmlns:a="http://schemas.openxmlformats.org/drawingml/2006/main" noGrp="1"/>
          </p:cNvSpPr>
          <p:nvPr/>
        </p:nvSpPr>
        <p:spPr>
          <a:xfrm xmlns:a="http://schemas.openxmlformats.org/drawingml/2006/main">
            <a:off x="11144250" y="64198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5E6F75"/>
                </a:solidFill>
                <a:latin typeface="Avenir Next"/>
                <a:ea typeface="Avenir Next"/>
                <a:cs typeface="Avenir Next"/>
              </a:defRPr>
            </a:defPPr>
            <a:lvl1pPr algn="r">
              <a:defRPr sz="825" b="1">
                <a:solidFill>
                  <a:srgbClr val="5E6F75"/>
                </a:solidFill>
                <a:latin typeface="Avenir Next"/>
                <a:ea typeface="Avenir Next"/>
                <a:cs typeface="Avenir Next"/>
              </a:defRPr>
            </a:lvl1pPr>
            <a:lvl2pPr algn="r">
              <a:defRPr sz="825" b="1">
                <a:solidFill>
                  <a:srgbClr val="5E6F75"/>
                </a:solidFill>
                <a:latin typeface="Avenir Next"/>
                <a:ea typeface="Avenir Next"/>
                <a:cs typeface="Avenir Next"/>
              </a:defRPr>
            </a:lvl2pPr>
            <a:lvl3pPr algn="r">
              <a:defRPr sz="825" b="1">
                <a:solidFill>
                  <a:srgbClr val="5E6F75"/>
                </a:solidFill>
                <a:latin typeface="Avenir Next"/>
                <a:ea typeface="Avenir Next"/>
                <a:cs typeface="Avenir Next"/>
              </a:defRPr>
            </a:lvl3pPr>
            <a:lvl4pPr algn="r">
              <a:defRPr sz="825" b="1">
                <a:solidFill>
                  <a:srgbClr val="5E6F75"/>
                </a:solidFill>
                <a:latin typeface="Avenir Next"/>
                <a:ea typeface="Avenir Next"/>
                <a:cs typeface="Avenir Next"/>
              </a:defRPr>
            </a:lvl4pPr>
            <a:lvl5pPr algn="r">
              <a:defRPr sz="825" b="1">
                <a:solidFill>
                  <a:srgbClr val="5E6F75"/>
                </a:solidFill>
                <a:latin typeface="Avenir Next"/>
                <a:ea typeface="Avenir Next"/>
                <a:cs typeface="Avenir Next"/>
              </a:defRPr>
            </a:lvl5pPr>
            <a:lvl6pPr algn="r">
              <a:defRPr sz="825" b="1">
                <a:solidFill>
                  <a:srgbClr val="5E6F75"/>
                </a:solidFill>
                <a:latin typeface="Avenir Next"/>
                <a:ea typeface="Avenir Next"/>
                <a:cs typeface="Avenir Next"/>
              </a:defRPr>
            </a:lvl6pPr>
            <a:lvl7pPr algn="r">
              <a:defRPr sz="825" b="1">
                <a:solidFill>
                  <a:srgbClr val="5E6F75"/>
                </a:solidFill>
                <a:latin typeface="Avenir Next"/>
                <a:ea typeface="Avenir Next"/>
                <a:cs typeface="Avenir Next"/>
              </a:defRPr>
            </a:lvl7pPr>
            <a:lvl8pPr algn="r">
              <a:defRPr sz="825" b="1">
                <a:solidFill>
                  <a:srgbClr val="5E6F75"/>
                </a:solidFill>
                <a:latin typeface="Avenir Next"/>
                <a:ea typeface="Avenir Next"/>
                <a:cs typeface="Avenir Next"/>
              </a:defRPr>
            </a:lvl8pPr>
            <a:lvl9pPr algn="r">
              <a:defRPr sz="825" b="1">
                <a:solidFill>
                  <a:srgbClr val="5E6F75"/>
                </a:solidFill>
                <a:latin typeface="Avenir Next"/>
                <a:ea typeface="Avenir Next"/>
                <a:cs typeface="Avenir Next"/>
              </a:defRPr>
            </a:lvl9pPr>
          </a:lstStyle>
          <a:p xmlns:a="http://schemas.openxmlformats.org/drawingml/2006/main">
            <a:pPr algn="r">
              <a:defRPr sz="825" b="1">
                <a:solidFill>
                  <a:srgbClr val="5E6F75"/>
                </a:solidFill>
                <a:latin typeface="Avenir Next"/>
                <a:ea typeface="Avenir Next"/>
                <a:cs typeface="Avenir Next"/>
              </a:defRPr>
            </a:pPr>
            <a:r>
              <a:rPr sz="825" b="1">
                <a:solidFill>
                  <a:srgbClr val="5E6F75"/>
                </a:solidFill>
                <a:latin typeface="Avenir Next"/>
                <a:ea typeface="Avenir Next"/>
                <a:cs typeface="Avenir Next"/>
              </a:rPr>
              <a:t>02</a:t>
            </a:r>
          </a:p>
        </p:txBody>
      </p:sp>
      <p:sp>
        <p:nvSpPr>
          <p:cNvPr id="4" name="">
            <a:extLst xmlns:a="http://schemas.openxmlformats.org/drawingml/2006/main">
              <a:ext uri="{FF2B5EF4-FFF2-40B4-BE49-F238E27FC236}">
                <a16:creationId xmlns:a16="http://schemas.microsoft.com/office/drawing/2014/main" id="{1AF3D7B8-0AF2-418B-9BC2-1B6AD96ABBFF}"/>
              </a:ext>
            </a:extLst>
          </p:cNvPr>
          <p:cNvSpPr>
            <a:spLocks xmlns:a="http://schemas.openxmlformats.org/drawingml/2006/main" noGrp="1"/>
          </p:cNvSpPr>
          <p:nvPr/>
        </p:nvSpPr>
        <p:spPr>
          <a:xfrm xmlns:a="http://schemas.openxmlformats.org/drawingml/2006/main">
            <a:off x="590550" y="1066800"/>
            <a:ext cx="7429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600" b="1">
                <a:solidFill>
                  <a:srgbClr val="192C36"/>
                </a:solidFill>
                <a:latin typeface="Avenir Next"/>
                <a:ea typeface="Avenir Next"/>
                <a:cs typeface="Avenir Next"/>
              </a:defRPr>
            </a:defPPr>
            <a:lvl1pPr algn="l">
              <a:defRPr sz="3600" b="1">
                <a:solidFill>
                  <a:srgbClr val="192C36"/>
                </a:solidFill>
                <a:latin typeface="Avenir Next"/>
                <a:ea typeface="Avenir Next"/>
                <a:cs typeface="Avenir Next"/>
              </a:defRPr>
            </a:lvl1pPr>
            <a:lvl2pPr algn="l">
              <a:defRPr sz="3600" b="1">
                <a:solidFill>
                  <a:srgbClr val="192C36"/>
                </a:solidFill>
                <a:latin typeface="Avenir Next"/>
                <a:ea typeface="Avenir Next"/>
                <a:cs typeface="Avenir Next"/>
              </a:defRPr>
            </a:lvl2pPr>
            <a:lvl3pPr algn="l">
              <a:defRPr sz="3600" b="1">
                <a:solidFill>
                  <a:srgbClr val="192C36"/>
                </a:solidFill>
                <a:latin typeface="Avenir Next"/>
                <a:ea typeface="Avenir Next"/>
                <a:cs typeface="Avenir Next"/>
              </a:defRPr>
            </a:lvl3pPr>
            <a:lvl4pPr algn="l">
              <a:defRPr sz="3600" b="1">
                <a:solidFill>
                  <a:srgbClr val="192C36"/>
                </a:solidFill>
                <a:latin typeface="Avenir Next"/>
                <a:ea typeface="Avenir Next"/>
                <a:cs typeface="Avenir Next"/>
              </a:defRPr>
            </a:lvl4pPr>
            <a:lvl5pPr algn="l">
              <a:defRPr sz="3600" b="1">
                <a:solidFill>
                  <a:srgbClr val="192C36"/>
                </a:solidFill>
                <a:latin typeface="Avenir Next"/>
                <a:ea typeface="Avenir Next"/>
                <a:cs typeface="Avenir Next"/>
              </a:defRPr>
            </a:lvl5pPr>
            <a:lvl6pPr algn="l">
              <a:defRPr sz="3600" b="1">
                <a:solidFill>
                  <a:srgbClr val="192C36"/>
                </a:solidFill>
                <a:latin typeface="Avenir Next"/>
                <a:ea typeface="Avenir Next"/>
                <a:cs typeface="Avenir Next"/>
              </a:defRPr>
            </a:lvl6pPr>
            <a:lvl7pPr algn="l">
              <a:defRPr sz="3600" b="1">
                <a:solidFill>
                  <a:srgbClr val="192C36"/>
                </a:solidFill>
                <a:latin typeface="Avenir Next"/>
                <a:ea typeface="Avenir Next"/>
                <a:cs typeface="Avenir Next"/>
              </a:defRPr>
            </a:lvl7pPr>
            <a:lvl8pPr algn="l">
              <a:defRPr sz="3600" b="1">
                <a:solidFill>
                  <a:srgbClr val="192C36"/>
                </a:solidFill>
                <a:latin typeface="Avenir Next"/>
                <a:ea typeface="Avenir Next"/>
                <a:cs typeface="Avenir Next"/>
              </a:defRPr>
            </a:lvl8pPr>
            <a:lvl9pPr algn="l">
              <a:defRPr sz="3600" b="1">
                <a:solidFill>
                  <a:srgbClr val="192C36"/>
                </a:solidFill>
                <a:latin typeface="Avenir Next"/>
                <a:ea typeface="Avenir Next"/>
                <a:cs typeface="Avenir Next"/>
              </a:defRPr>
            </a:lvl9pPr>
          </a:lstStyle>
          <a:p xmlns:a="http://schemas.openxmlformats.org/drawingml/2006/main">
            <a:pPr algn="l">
              <a:defRPr sz="3600" b="1">
                <a:solidFill>
                  <a:srgbClr val="192C36"/>
                </a:solidFill>
                <a:latin typeface="Avenir Next"/>
                <a:ea typeface="Avenir Next"/>
                <a:cs typeface="Avenir Next"/>
              </a:defRPr>
            </a:pPr>
            <a:r>
              <a:rPr sz="3600" b="1">
                <a:solidFill>
                  <a:srgbClr val="192C36"/>
                </a:solidFill>
                <a:latin typeface="Avenir Next"/>
                <a:ea typeface="Avenir Next"/>
                <a:cs typeface="Avenir Next"/>
              </a:rPr>
              <a:t>The customer can be</a:t>
            </a:r>
          </a:p>
          <a:p xmlns:a="http://schemas.openxmlformats.org/drawingml/2006/main">
            <a:pPr algn="l">
              <a:defRPr sz="3600" b="1">
                <a:solidFill>
                  <a:srgbClr val="192C36"/>
                </a:solidFill>
                <a:latin typeface="Avenir Next"/>
                <a:ea typeface="Avenir Next"/>
                <a:cs typeface="Avenir Next"/>
              </a:defRPr>
            </a:pPr>
            <a:r>
              <a:rPr sz="3600" b="1">
                <a:solidFill>
                  <a:srgbClr val="192C36"/>
                </a:solidFill>
                <a:latin typeface="Avenir Next"/>
                <a:ea typeface="Avenir Next"/>
                <a:cs typeface="Avenir Next"/>
              </a:rPr>
              <a:t>the one sending the money.</a:t>
            </a:r>
          </a:p>
        </p:txBody>
      </p:sp>
      <p:sp>
        <p:nvSpPr>
          <p:cNvPr id="5" name="">
            <a:extLst xmlns:a="http://schemas.openxmlformats.org/drawingml/2006/main">
              <a:ext uri="{FF2B5EF4-FFF2-40B4-BE49-F238E27FC236}">
                <a16:creationId xmlns:a16="http://schemas.microsoft.com/office/drawing/2014/main" id="{E3393CD4-A71B-450D-8908-4F784E2DBBFE}"/>
              </a:ext>
            </a:extLst>
          </p:cNvPr>
          <p:cNvSpPr>
            <a:spLocks xmlns:a="http://schemas.openxmlformats.org/drawingml/2006/main" noGrp="1"/>
          </p:cNvSpPr>
          <p:nvPr/>
        </p:nvSpPr>
        <p:spPr>
          <a:xfrm xmlns:a="http://schemas.openxmlformats.org/drawingml/2006/main">
            <a:off x="619125" y="2609850"/>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5E6F75"/>
                </a:solidFill>
                <a:latin typeface="Avenir Next"/>
                <a:ea typeface="Avenir Next"/>
                <a:cs typeface="Avenir Next"/>
              </a:defRPr>
            </a:defPPr>
            <a:lvl1pPr algn="l">
              <a:defRPr sz="1650" b="0">
                <a:solidFill>
                  <a:srgbClr val="5E6F75"/>
                </a:solidFill>
                <a:latin typeface="Avenir Next"/>
                <a:ea typeface="Avenir Next"/>
                <a:cs typeface="Avenir Next"/>
              </a:defRPr>
            </a:lvl1pPr>
            <a:lvl2pPr algn="l">
              <a:defRPr sz="1650" b="0">
                <a:solidFill>
                  <a:srgbClr val="5E6F75"/>
                </a:solidFill>
                <a:latin typeface="Avenir Next"/>
                <a:ea typeface="Avenir Next"/>
                <a:cs typeface="Avenir Next"/>
              </a:defRPr>
            </a:lvl2pPr>
            <a:lvl3pPr algn="l">
              <a:defRPr sz="1650" b="0">
                <a:solidFill>
                  <a:srgbClr val="5E6F75"/>
                </a:solidFill>
                <a:latin typeface="Avenir Next"/>
                <a:ea typeface="Avenir Next"/>
                <a:cs typeface="Avenir Next"/>
              </a:defRPr>
            </a:lvl3pPr>
            <a:lvl4pPr algn="l">
              <a:defRPr sz="1650" b="0">
                <a:solidFill>
                  <a:srgbClr val="5E6F75"/>
                </a:solidFill>
                <a:latin typeface="Avenir Next"/>
                <a:ea typeface="Avenir Next"/>
                <a:cs typeface="Avenir Next"/>
              </a:defRPr>
            </a:lvl4pPr>
            <a:lvl5pPr algn="l">
              <a:defRPr sz="1650" b="0">
                <a:solidFill>
                  <a:srgbClr val="5E6F75"/>
                </a:solidFill>
                <a:latin typeface="Avenir Next"/>
                <a:ea typeface="Avenir Next"/>
                <a:cs typeface="Avenir Next"/>
              </a:defRPr>
            </a:lvl5pPr>
            <a:lvl6pPr algn="l">
              <a:defRPr sz="1650" b="0">
                <a:solidFill>
                  <a:srgbClr val="5E6F75"/>
                </a:solidFill>
                <a:latin typeface="Avenir Next"/>
                <a:ea typeface="Avenir Next"/>
                <a:cs typeface="Avenir Next"/>
              </a:defRPr>
            </a:lvl6pPr>
            <a:lvl7pPr algn="l">
              <a:defRPr sz="1650" b="0">
                <a:solidFill>
                  <a:srgbClr val="5E6F75"/>
                </a:solidFill>
                <a:latin typeface="Avenir Next"/>
                <a:ea typeface="Avenir Next"/>
                <a:cs typeface="Avenir Next"/>
              </a:defRPr>
            </a:lvl7pPr>
            <a:lvl8pPr algn="l">
              <a:defRPr sz="1650" b="0">
                <a:solidFill>
                  <a:srgbClr val="5E6F75"/>
                </a:solidFill>
                <a:latin typeface="Avenir Next"/>
                <a:ea typeface="Avenir Next"/>
                <a:cs typeface="Avenir Next"/>
              </a:defRPr>
            </a:lvl8pPr>
            <a:lvl9pPr algn="l">
              <a:defRPr sz="1650" b="0">
                <a:solidFill>
                  <a:srgbClr val="5E6F75"/>
                </a:solidFill>
                <a:latin typeface="Avenir Next"/>
                <a:ea typeface="Avenir Next"/>
                <a:cs typeface="Avenir Next"/>
              </a:defRPr>
            </a:lvl9pPr>
          </a:lstStyle>
          <a:p xmlns:a="http://schemas.openxmlformats.org/drawingml/2006/main">
            <a:pPr algn="l">
              <a:defRPr sz="1650" b="0">
                <a:solidFill>
                  <a:srgbClr val="5E6F75"/>
                </a:solidFill>
                <a:latin typeface="Avenir Next"/>
                <a:ea typeface="Avenir Next"/>
                <a:cs typeface="Avenir Next"/>
              </a:defRPr>
            </a:pPr>
            <a:r>
              <a:rPr sz="1650" b="0">
                <a:solidFill>
                  <a:srgbClr val="5E6F75"/>
                </a:solidFill>
                <a:latin typeface="Avenir Next"/>
                <a:ea typeface="Avenir Next"/>
                <a:cs typeface="Avenir Next"/>
              </a:rPr>
              <a:t>That is what makes these scams hard to stop.</a:t>
            </a:r>
          </a:p>
        </p:txBody>
      </p:sp>
      <p:sp>
        <p:nvSpPr>
          <p:cNvPr id="6" name="">
            <a:extLst xmlns:a="http://schemas.openxmlformats.org/drawingml/2006/main">
              <a:ext uri="{FF2B5EF4-FFF2-40B4-BE49-F238E27FC236}">
                <a16:creationId xmlns:a16="http://schemas.microsoft.com/office/drawing/2014/main" id="{D7AAF659-FA92-4A17-B866-60CFCEE0EB08}"/>
              </a:ext>
            </a:extLst>
          </p:cNvPr>
          <p:cNvSpPr>
            <a:spLocks xmlns:a="http://schemas.openxmlformats.org/drawingml/2006/main" noGrp="1"/>
          </p:cNvSpPr>
          <p:nvPr/>
        </p:nvSpPr>
        <p:spPr>
          <a:xfrm xmlns:a="http://schemas.openxmlformats.org/drawingml/2006/main">
            <a:off x="628650" y="371475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150" b="1">
                <a:solidFill>
                  <a:srgbClr val="1D716F"/>
                </a:solidFill>
                <a:latin typeface="Avenir Next"/>
                <a:ea typeface="Avenir Next"/>
                <a:cs typeface="Avenir Next"/>
              </a:defRPr>
            </a:defPPr>
            <a:lvl1pPr algn="l">
              <a:defRPr sz="3150" b="1">
                <a:solidFill>
                  <a:srgbClr val="1D716F"/>
                </a:solidFill>
                <a:latin typeface="Avenir Next"/>
                <a:ea typeface="Avenir Next"/>
                <a:cs typeface="Avenir Next"/>
              </a:defRPr>
            </a:lvl1pPr>
            <a:lvl2pPr algn="l">
              <a:defRPr sz="3150" b="1">
                <a:solidFill>
                  <a:srgbClr val="1D716F"/>
                </a:solidFill>
                <a:latin typeface="Avenir Next"/>
                <a:ea typeface="Avenir Next"/>
                <a:cs typeface="Avenir Next"/>
              </a:defRPr>
            </a:lvl2pPr>
            <a:lvl3pPr algn="l">
              <a:defRPr sz="3150" b="1">
                <a:solidFill>
                  <a:srgbClr val="1D716F"/>
                </a:solidFill>
                <a:latin typeface="Avenir Next"/>
                <a:ea typeface="Avenir Next"/>
                <a:cs typeface="Avenir Next"/>
              </a:defRPr>
            </a:lvl3pPr>
            <a:lvl4pPr algn="l">
              <a:defRPr sz="3150" b="1">
                <a:solidFill>
                  <a:srgbClr val="1D716F"/>
                </a:solidFill>
                <a:latin typeface="Avenir Next"/>
                <a:ea typeface="Avenir Next"/>
                <a:cs typeface="Avenir Next"/>
              </a:defRPr>
            </a:lvl4pPr>
            <a:lvl5pPr algn="l">
              <a:defRPr sz="3150" b="1">
                <a:solidFill>
                  <a:srgbClr val="1D716F"/>
                </a:solidFill>
                <a:latin typeface="Avenir Next"/>
                <a:ea typeface="Avenir Next"/>
                <a:cs typeface="Avenir Next"/>
              </a:defRPr>
            </a:lvl5pPr>
            <a:lvl6pPr algn="l">
              <a:defRPr sz="3150" b="1">
                <a:solidFill>
                  <a:srgbClr val="1D716F"/>
                </a:solidFill>
                <a:latin typeface="Avenir Next"/>
                <a:ea typeface="Avenir Next"/>
                <a:cs typeface="Avenir Next"/>
              </a:defRPr>
            </a:lvl6pPr>
            <a:lvl7pPr algn="l">
              <a:defRPr sz="3150" b="1">
                <a:solidFill>
                  <a:srgbClr val="1D716F"/>
                </a:solidFill>
                <a:latin typeface="Avenir Next"/>
                <a:ea typeface="Avenir Next"/>
                <a:cs typeface="Avenir Next"/>
              </a:defRPr>
            </a:lvl7pPr>
            <a:lvl8pPr algn="l">
              <a:defRPr sz="3150" b="1">
                <a:solidFill>
                  <a:srgbClr val="1D716F"/>
                </a:solidFill>
                <a:latin typeface="Avenir Next"/>
                <a:ea typeface="Avenir Next"/>
                <a:cs typeface="Avenir Next"/>
              </a:defRPr>
            </a:lvl8pPr>
            <a:lvl9pPr algn="l">
              <a:defRPr sz="3150" b="1">
                <a:solidFill>
                  <a:srgbClr val="1D716F"/>
                </a:solidFill>
                <a:latin typeface="Avenir Next"/>
                <a:ea typeface="Avenir Next"/>
                <a:cs typeface="Avenir Next"/>
              </a:defRPr>
            </a:lvl9pPr>
          </a:lstStyle>
          <a:p xmlns:a="http://schemas.openxmlformats.org/drawingml/2006/main">
            <a:pPr algn="l">
              <a:defRPr sz="3150" b="1">
                <a:solidFill>
                  <a:srgbClr val="1D716F"/>
                </a:solidFill>
                <a:latin typeface="Avenir Next"/>
                <a:ea typeface="Avenir Next"/>
                <a:cs typeface="Avenir Next"/>
              </a:defRPr>
            </a:pPr>
            <a:r>
              <a:rPr sz="3150" b="1">
                <a:solidFill>
                  <a:srgbClr val="1D716F"/>
                </a:solidFill>
                <a:latin typeface="Avenir Next"/>
                <a:ea typeface="Avenir Next"/>
                <a:cs typeface="Avenir Next"/>
              </a:rPr>
              <a:t>81.8%</a:t>
            </a:r>
          </a:p>
        </p:txBody>
      </p:sp>
      <p:sp>
        <p:nvSpPr>
          <p:cNvPr id="7" name="">
            <a:extLst xmlns:a="http://schemas.openxmlformats.org/drawingml/2006/main">
              <a:ext uri="{FF2B5EF4-FFF2-40B4-BE49-F238E27FC236}">
                <a16:creationId xmlns:a16="http://schemas.microsoft.com/office/drawing/2014/main" id="{346A365F-40ED-4686-AA93-AB80196A0524}"/>
              </a:ext>
            </a:extLst>
          </p:cNvPr>
          <p:cNvSpPr>
            <a:spLocks xmlns:a="http://schemas.openxmlformats.org/drawingml/2006/main" noGrp="1"/>
          </p:cNvSpPr>
          <p:nvPr/>
        </p:nvSpPr>
        <p:spPr>
          <a:xfrm xmlns:a="http://schemas.openxmlformats.org/drawingml/2006/main">
            <a:off x="628650" y="4476750"/>
            <a:ext cx="2857500" cy="19050"/>
          </a:xfrm>
          <a:prstGeom xmlns:a="http://schemas.openxmlformats.org/drawingml/2006/main" prst="rect">
            <a:avLst/>
          </a:prstGeom>
          <a:solidFill xmlns:a="http://schemas.openxmlformats.org/drawingml/2006/main">
            <a:srgbClr val="C9D2C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DF756FB-70D1-4D37-8E3B-9AC63B3FBCE3}"/>
              </a:ext>
            </a:extLst>
          </p:cNvPr>
          <p:cNvSpPr>
            <a:spLocks xmlns:a="http://schemas.openxmlformats.org/drawingml/2006/main" noGrp="1"/>
          </p:cNvSpPr>
          <p:nvPr/>
        </p:nvSpPr>
        <p:spPr>
          <a:xfrm xmlns:a="http://schemas.openxmlformats.org/drawingml/2006/main">
            <a:off x="628650" y="46101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E6F75"/>
                </a:solidFill>
                <a:latin typeface="Avenir Next"/>
                <a:ea typeface="Avenir Next"/>
                <a:cs typeface="Avenir Next"/>
              </a:defRPr>
            </a:defPPr>
            <a:lvl1pPr algn="l">
              <a:defRPr sz="1275" b="0">
                <a:solidFill>
                  <a:srgbClr val="5E6F75"/>
                </a:solidFill>
                <a:latin typeface="Avenir Next"/>
                <a:ea typeface="Avenir Next"/>
                <a:cs typeface="Avenir Next"/>
              </a:defRPr>
            </a:lvl1pPr>
            <a:lvl2pPr algn="l">
              <a:defRPr sz="1275" b="0">
                <a:solidFill>
                  <a:srgbClr val="5E6F75"/>
                </a:solidFill>
                <a:latin typeface="Avenir Next"/>
                <a:ea typeface="Avenir Next"/>
                <a:cs typeface="Avenir Next"/>
              </a:defRPr>
            </a:lvl2pPr>
            <a:lvl3pPr algn="l">
              <a:defRPr sz="1275" b="0">
                <a:solidFill>
                  <a:srgbClr val="5E6F75"/>
                </a:solidFill>
                <a:latin typeface="Avenir Next"/>
                <a:ea typeface="Avenir Next"/>
                <a:cs typeface="Avenir Next"/>
              </a:defRPr>
            </a:lvl3pPr>
            <a:lvl4pPr algn="l">
              <a:defRPr sz="1275" b="0">
                <a:solidFill>
                  <a:srgbClr val="5E6F75"/>
                </a:solidFill>
                <a:latin typeface="Avenir Next"/>
                <a:ea typeface="Avenir Next"/>
                <a:cs typeface="Avenir Next"/>
              </a:defRPr>
            </a:lvl4pPr>
            <a:lvl5pPr algn="l">
              <a:defRPr sz="1275" b="0">
                <a:solidFill>
                  <a:srgbClr val="5E6F75"/>
                </a:solidFill>
                <a:latin typeface="Avenir Next"/>
                <a:ea typeface="Avenir Next"/>
                <a:cs typeface="Avenir Next"/>
              </a:defRPr>
            </a:lvl5pPr>
            <a:lvl6pPr algn="l">
              <a:defRPr sz="1275" b="0">
                <a:solidFill>
                  <a:srgbClr val="5E6F75"/>
                </a:solidFill>
                <a:latin typeface="Avenir Next"/>
                <a:ea typeface="Avenir Next"/>
                <a:cs typeface="Avenir Next"/>
              </a:defRPr>
            </a:lvl6pPr>
            <a:lvl7pPr algn="l">
              <a:defRPr sz="1275" b="0">
                <a:solidFill>
                  <a:srgbClr val="5E6F75"/>
                </a:solidFill>
                <a:latin typeface="Avenir Next"/>
                <a:ea typeface="Avenir Next"/>
                <a:cs typeface="Avenir Next"/>
              </a:defRPr>
            </a:lvl7pPr>
            <a:lvl8pPr algn="l">
              <a:defRPr sz="1275" b="0">
                <a:solidFill>
                  <a:srgbClr val="5E6F75"/>
                </a:solidFill>
                <a:latin typeface="Avenir Next"/>
                <a:ea typeface="Avenir Next"/>
                <a:cs typeface="Avenir Next"/>
              </a:defRPr>
            </a:lvl8pPr>
            <a:lvl9pPr algn="l">
              <a:defRPr sz="1275" b="0">
                <a:solidFill>
                  <a:srgbClr val="5E6F75"/>
                </a:solidFill>
                <a:latin typeface="Avenir Next"/>
                <a:ea typeface="Avenir Next"/>
                <a:cs typeface="Avenir Next"/>
              </a:defRPr>
            </a:lvl9pPr>
          </a:lstStyle>
          <a:p xmlns:a="http://schemas.openxmlformats.org/drawingml/2006/main">
            <a:pPr algn="l">
              <a:defRPr sz="1275" b="0">
                <a:solidFill>
                  <a:srgbClr val="5E6F75"/>
                </a:solidFill>
                <a:latin typeface="Avenir Next"/>
                <a:ea typeface="Avenir Next"/>
                <a:cs typeface="Avenir Next"/>
              </a:defRPr>
            </a:pPr>
            <a:r>
              <a:rPr sz="1275" b="0">
                <a:solidFill>
                  <a:srgbClr val="5E6F75"/>
                </a:solidFill>
                <a:latin typeface="Avenir Next"/>
                <a:ea typeface="Avenir Next"/>
                <a:cs typeface="Avenir Next"/>
              </a:rPr>
              <a:t>self-effected transfers</a:t>
            </a:r>
          </a:p>
        </p:txBody>
      </p:sp>
      <p:sp>
        <p:nvSpPr>
          <p:cNvPr id="9" name="">
            <a:extLst xmlns:a="http://schemas.openxmlformats.org/drawingml/2006/main">
              <a:ext uri="{FF2B5EF4-FFF2-40B4-BE49-F238E27FC236}">
                <a16:creationId xmlns:a16="http://schemas.microsoft.com/office/drawing/2014/main" id="{973BFA7E-EF4A-4350-AF08-466953A635D1}"/>
              </a:ext>
            </a:extLst>
          </p:cNvPr>
          <p:cNvSpPr>
            <a:spLocks xmlns:a="http://schemas.openxmlformats.org/drawingml/2006/main" noGrp="1"/>
          </p:cNvSpPr>
          <p:nvPr/>
        </p:nvSpPr>
        <p:spPr>
          <a:xfrm xmlns:a="http://schemas.openxmlformats.org/drawingml/2006/main">
            <a:off x="4229100" y="371475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150" b="1">
                <a:solidFill>
                  <a:srgbClr val="192C36"/>
                </a:solidFill>
                <a:latin typeface="Avenir Next"/>
                <a:ea typeface="Avenir Next"/>
                <a:cs typeface="Avenir Next"/>
              </a:defRPr>
            </a:defPPr>
            <a:lvl1pPr algn="l">
              <a:defRPr sz="3150" b="1">
                <a:solidFill>
                  <a:srgbClr val="192C36"/>
                </a:solidFill>
                <a:latin typeface="Avenir Next"/>
                <a:ea typeface="Avenir Next"/>
                <a:cs typeface="Avenir Next"/>
              </a:defRPr>
            </a:lvl1pPr>
            <a:lvl2pPr algn="l">
              <a:defRPr sz="3150" b="1">
                <a:solidFill>
                  <a:srgbClr val="192C36"/>
                </a:solidFill>
                <a:latin typeface="Avenir Next"/>
                <a:ea typeface="Avenir Next"/>
                <a:cs typeface="Avenir Next"/>
              </a:defRPr>
            </a:lvl2pPr>
            <a:lvl3pPr algn="l">
              <a:defRPr sz="3150" b="1">
                <a:solidFill>
                  <a:srgbClr val="192C36"/>
                </a:solidFill>
                <a:latin typeface="Avenir Next"/>
                <a:ea typeface="Avenir Next"/>
                <a:cs typeface="Avenir Next"/>
              </a:defRPr>
            </a:lvl3pPr>
            <a:lvl4pPr algn="l">
              <a:defRPr sz="3150" b="1">
                <a:solidFill>
                  <a:srgbClr val="192C36"/>
                </a:solidFill>
                <a:latin typeface="Avenir Next"/>
                <a:ea typeface="Avenir Next"/>
                <a:cs typeface="Avenir Next"/>
              </a:defRPr>
            </a:lvl4pPr>
            <a:lvl5pPr algn="l">
              <a:defRPr sz="3150" b="1">
                <a:solidFill>
                  <a:srgbClr val="192C36"/>
                </a:solidFill>
                <a:latin typeface="Avenir Next"/>
                <a:ea typeface="Avenir Next"/>
                <a:cs typeface="Avenir Next"/>
              </a:defRPr>
            </a:lvl5pPr>
            <a:lvl6pPr algn="l">
              <a:defRPr sz="3150" b="1">
                <a:solidFill>
                  <a:srgbClr val="192C36"/>
                </a:solidFill>
                <a:latin typeface="Avenir Next"/>
                <a:ea typeface="Avenir Next"/>
                <a:cs typeface="Avenir Next"/>
              </a:defRPr>
            </a:lvl6pPr>
            <a:lvl7pPr algn="l">
              <a:defRPr sz="3150" b="1">
                <a:solidFill>
                  <a:srgbClr val="192C36"/>
                </a:solidFill>
                <a:latin typeface="Avenir Next"/>
                <a:ea typeface="Avenir Next"/>
                <a:cs typeface="Avenir Next"/>
              </a:defRPr>
            </a:lvl7pPr>
            <a:lvl8pPr algn="l">
              <a:defRPr sz="3150" b="1">
                <a:solidFill>
                  <a:srgbClr val="192C36"/>
                </a:solidFill>
                <a:latin typeface="Avenir Next"/>
                <a:ea typeface="Avenir Next"/>
                <a:cs typeface="Avenir Next"/>
              </a:defRPr>
            </a:lvl8pPr>
            <a:lvl9pPr algn="l">
              <a:defRPr sz="3150" b="1">
                <a:solidFill>
                  <a:srgbClr val="192C36"/>
                </a:solidFill>
                <a:latin typeface="Avenir Next"/>
                <a:ea typeface="Avenir Next"/>
                <a:cs typeface="Avenir Next"/>
              </a:defRPr>
            </a:lvl9pPr>
          </a:lstStyle>
          <a:p xmlns:a="http://schemas.openxmlformats.org/drawingml/2006/main">
            <a:pPr algn="l">
              <a:defRPr sz="3150" b="1">
                <a:solidFill>
                  <a:srgbClr val="192C36"/>
                </a:solidFill>
                <a:latin typeface="Avenir Next"/>
                <a:ea typeface="Avenir Next"/>
                <a:cs typeface="Avenir Next"/>
              </a:defRPr>
            </a:pPr>
            <a:r>
              <a:rPr sz="3150" b="1">
                <a:solidFill>
                  <a:srgbClr val="192C36"/>
                </a:solidFill>
                <a:latin typeface="Avenir Next"/>
                <a:ea typeface="Avenir Next"/>
                <a:cs typeface="Avenir Next"/>
              </a:rPr>
              <a:t>S$913.1m</a:t>
            </a:r>
          </a:p>
        </p:txBody>
      </p:sp>
      <p:sp>
        <p:nvSpPr>
          <p:cNvPr id="10" name="">
            <a:extLst xmlns:a="http://schemas.openxmlformats.org/drawingml/2006/main">
              <a:ext uri="{FF2B5EF4-FFF2-40B4-BE49-F238E27FC236}">
                <a16:creationId xmlns:a16="http://schemas.microsoft.com/office/drawing/2014/main" id="{7B0A943F-C3AF-4C70-A17B-EA7D789AC846}"/>
              </a:ext>
            </a:extLst>
          </p:cNvPr>
          <p:cNvSpPr>
            <a:spLocks xmlns:a="http://schemas.openxmlformats.org/drawingml/2006/main" noGrp="1"/>
          </p:cNvSpPr>
          <p:nvPr/>
        </p:nvSpPr>
        <p:spPr>
          <a:xfrm xmlns:a="http://schemas.openxmlformats.org/drawingml/2006/main">
            <a:off x="4229100" y="4476750"/>
            <a:ext cx="2857500" cy="19050"/>
          </a:xfrm>
          <a:prstGeom xmlns:a="http://schemas.openxmlformats.org/drawingml/2006/main" prst="rect">
            <a:avLst/>
          </a:prstGeom>
          <a:solidFill xmlns:a="http://schemas.openxmlformats.org/drawingml/2006/main">
            <a:srgbClr val="C9D2C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A7BC6F7-7DA1-400B-826E-C7FEEC0984BC}"/>
              </a:ext>
            </a:extLst>
          </p:cNvPr>
          <p:cNvSpPr>
            <a:spLocks xmlns:a="http://schemas.openxmlformats.org/drawingml/2006/main" noGrp="1"/>
          </p:cNvSpPr>
          <p:nvPr/>
        </p:nvSpPr>
        <p:spPr>
          <a:xfrm xmlns:a="http://schemas.openxmlformats.org/drawingml/2006/main">
            <a:off x="4229100" y="46101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E6F75"/>
                </a:solidFill>
                <a:latin typeface="Avenir Next"/>
                <a:ea typeface="Avenir Next"/>
                <a:cs typeface="Avenir Next"/>
              </a:defRPr>
            </a:defPPr>
            <a:lvl1pPr algn="l">
              <a:defRPr sz="1275" b="0">
                <a:solidFill>
                  <a:srgbClr val="5E6F75"/>
                </a:solidFill>
                <a:latin typeface="Avenir Next"/>
                <a:ea typeface="Avenir Next"/>
                <a:cs typeface="Avenir Next"/>
              </a:defRPr>
            </a:lvl1pPr>
            <a:lvl2pPr algn="l">
              <a:defRPr sz="1275" b="0">
                <a:solidFill>
                  <a:srgbClr val="5E6F75"/>
                </a:solidFill>
                <a:latin typeface="Avenir Next"/>
                <a:ea typeface="Avenir Next"/>
                <a:cs typeface="Avenir Next"/>
              </a:defRPr>
            </a:lvl2pPr>
            <a:lvl3pPr algn="l">
              <a:defRPr sz="1275" b="0">
                <a:solidFill>
                  <a:srgbClr val="5E6F75"/>
                </a:solidFill>
                <a:latin typeface="Avenir Next"/>
                <a:ea typeface="Avenir Next"/>
                <a:cs typeface="Avenir Next"/>
              </a:defRPr>
            </a:lvl3pPr>
            <a:lvl4pPr algn="l">
              <a:defRPr sz="1275" b="0">
                <a:solidFill>
                  <a:srgbClr val="5E6F75"/>
                </a:solidFill>
                <a:latin typeface="Avenir Next"/>
                <a:ea typeface="Avenir Next"/>
                <a:cs typeface="Avenir Next"/>
              </a:defRPr>
            </a:lvl4pPr>
            <a:lvl5pPr algn="l">
              <a:defRPr sz="1275" b="0">
                <a:solidFill>
                  <a:srgbClr val="5E6F75"/>
                </a:solidFill>
                <a:latin typeface="Avenir Next"/>
                <a:ea typeface="Avenir Next"/>
                <a:cs typeface="Avenir Next"/>
              </a:defRPr>
            </a:lvl5pPr>
            <a:lvl6pPr algn="l">
              <a:defRPr sz="1275" b="0">
                <a:solidFill>
                  <a:srgbClr val="5E6F75"/>
                </a:solidFill>
                <a:latin typeface="Avenir Next"/>
                <a:ea typeface="Avenir Next"/>
                <a:cs typeface="Avenir Next"/>
              </a:defRPr>
            </a:lvl6pPr>
            <a:lvl7pPr algn="l">
              <a:defRPr sz="1275" b="0">
                <a:solidFill>
                  <a:srgbClr val="5E6F75"/>
                </a:solidFill>
                <a:latin typeface="Avenir Next"/>
                <a:ea typeface="Avenir Next"/>
                <a:cs typeface="Avenir Next"/>
              </a:defRPr>
            </a:lvl7pPr>
            <a:lvl8pPr algn="l">
              <a:defRPr sz="1275" b="0">
                <a:solidFill>
                  <a:srgbClr val="5E6F75"/>
                </a:solidFill>
                <a:latin typeface="Avenir Next"/>
                <a:ea typeface="Avenir Next"/>
                <a:cs typeface="Avenir Next"/>
              </a:defRPr>
            </a:lvl8pPr>
            <a:lvl9pPr algn="l">
              <a:defRPr sz="1275" b="0">
                <a:solidFill>
                  <a:srgbClr val="5E6F75"/>
                </a:solidFill>
                <a:latin typeface="Avenir Next"/>
                <a:ea typeface="Avenir Next"/>
                <a:cs typeface="Avenir Next"/>
              </a:defRPr>
            </a:lvl9pPr>
          </a:lstStyle>
          <a:p xmlns:a="http://schemas.openxmlformats.org/drawingml/2006/main">
            <a:pPr algn="l">
              <a:defRPr sz="1275" b="0">
                <a:solidFill>
                  <a:srgbClr val="5E6F75"/>
                </a:solidFill>
                <a:latin typeface="Avenir Next"/>
                <a:ea typeface="Avenir Next"/>
                <a:cs typeface="Avenir Next"/>
              </a:defRPr>
            </a:pPr>
            <a:r>
              <a:rPr sz="1275" b="0">
                <a:solidFill>
                  <a:srgbClr val="5E6F75"/>
                </a:solidFill>
                <a:latin typeface="Avenir Next"/>
                <a:ea typeface="Avenir Next"/>
                <a:cs typeface="Avenir Next"/>
              </a:rPr>
              <a:t>lost to scams</a:t>
            </a:r>
          </a:p>
        </p:txBody>
      </p:sp>
      <p:sp>
        <p:nvSpPr>
          <p:cNvPr id="12" name="">
            <a:extLst xmlns:a="http://schemas.openxmlformats.org/drawingml/2006/main">
              <a:ext uri="{FF2B5EF4-FFF2-40B4-BE49-F238E27FC236}">
                <a16:creationId xmlns:a16="http://schemas.microsoft.com/office/drawing/2014/main" id="{6C236C52-3381-4F34-85D6-2628E720EC7F}"/>
              </a:ext>
            </a:extLst>
          </p:cNvPr>
          <p:cNvSpPr>
            <a:spLocks xmlns:a="http://schemas.openxmlformats.org/drawingml/2006/main" noGrp="1"/>
          </p:cNvSpPr>
          <p:nvPr/>
        </p:nvSpPr>
        <p:spPr>
          <a:xfrm xmlns:a="http://schemas.openxmlformats.org/drawingml/2006/main">
            <a:off x="7848600" y="371475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150" b="1">
                <a:solidFill>
                  <a:srgbClr val="192C36"/>
                </a:solidFill>
                <a:latin typeface="Avenir Next"/>
                <a:ea typeface="Avenir Next"/>
                <a:cs typeface="Avenir Next"/>
              </a:defRPr>
            </a:defPPr>
            <a:lvl1pPr algn="l">
              <a:defRPr sz="3150" b="1">
                <a:solidFill>
                  <a:srgbClr val="192C36"/>
                </a:solidFill>
                <a:latin typeface="Avenir Next"/>
                <a:ea typeface="Avenir Next"/>
                <a:cs typeface="Avenir Next"/>
              </a:defRPr>
            </a:lvl1pPr>
            <a:lvl2pPr algn="l">
              <a:defRPr sz="3150" b="1">
                <a:solidFill>
                  <a:srgbClr val="192C36"/>
                </a:solidFill>
                <a:latin typeface="Avenir Next"/>
                <a:ea typeface="Avenir Next"/>
                <a:cs typeface="Avenir Next"/>
              </a:defRPr>
            </a:lvl2pPr>
            <a:lvl3pPr algn="l">
              <a:defRPr sz="3150" b="1">
                <a:solidFill>
                  <a:srgbClr val="192C36"/>
                </a:solidFill>
                <a:latin typeface="Avenir Next"/>
                <a:ea typeface="Avenir Next"/>
                <a:cs typeface="Avenir Next"/>
              </a:defRPr>
            </a:lvl3pPr>
            <a:lvl4pPr algn="l">
              <a:defRPr sz="3150" b="1">
                <a:solidFill>
                  <a:srgbClr val="192C36"/>
                </a:solidFill>
                <a:latin typeface="Avenir Next"/>
                <a:ea typeface="Avenir Next"/>
                <a:cs typeface="Avenir Next"/>
              </a:defRPr>
            </a:lvl4pPr>
            <a:lvl5pPr algn="l">
              <a:defRPr sz="3150" b="1">
                <a:solidFill>
                  <a:srgbClr val="192C36"/>
                </a:solidFill>
                <a:latin typeface="Avenir Next"/>
                <a:ea typeface="Avenir Next"/>
                <a:cs typeface="Avenir Next"/>
              </a:defRPr>
            </a:lvl5pPr>
            <a:lvl6pPr algn="l">
              <a:defRPr sz="3150" b="1">
                <a:solidFill>
                  <a:srgbClr val="192C36"/>
                </a:solidFill>
                <a:latin typeface="Avenir Next"/>
                <a:ea typeface="Avenir Next"/>
                <a:cs typeface="Avenir Next"/>
              </a:defRPr>
            </a:lvl6pPr>
            <a:lvl7pPr algn="l">
              <a:defRPr sz="3150" b="1">
                <a:solidFill>
                  <a:srgbClr val="192C36"/>
                </a:solidFill>
                <a:latin typeface="Avenir Next"/>
                <a:ea typeface="Avenir Next"/>
                <a:cs typeface="Avenir Next"/>
              </a:defRPr>
            </a:lvl7pPr>
            <a:lvl8pPr algn="l">
              <a:defRPr sz="3150" b="1">
                <a:solidFill>
                  <a:srgbClr val="192C36"/>
                </a:solidFill>
                <a:latin typeface="Avenir Next"/>
                <a:ea typeface="Avenir Next"/>
                <a:cs typeface="Avenir Next"/>
              </a:defRPr>
            </a:lvl8pPr>
            <a:lvl9pPr algn="l">
              <a:defRPr sz="3150" b="1">
                <a:solidFill>
                  <a:srgbClr val="192C36"/>
                </a:solidFill>
                <a:latin typeface="Avenir Next"/>
                <a:ea typeface="Avenir Next"/>
                <a:cs typeface="Avenir Next"/>
              </a:defRPr>
            </a:lvl9pPr>
          </a:lstStyle>
          <a:p xmlns:a="http://schemas.openxmlformats.org/drawingml/2006/main">
            <a:pPr algn="l">
              <a:defRPr sz="3150" b="1">
                <a:solidFill>
                  <a:srgbClr val="192C36"/>
                </a:solidFill>
                <a:latin typeface="Avenir Next"/>
                <a:ea typeface="Avenir Next"/>
                <a:cs typeface="Avenir Next"/>
              </a:defRPr>
            </a:pPr>
            <a:r>
              <a:rPr sz="3150" b="1">
                <a:solidFill>
                  <a:srgbClr val="192C36"/>
                </a:solidFill>
                <a:latin typeface="Avenir Next"/>
                <a:ea typeface="Avenir Next"/>
                <a:cs typeface="Avenir Next"/>
              </a:rPr>
              <a:t>41,974</a:t>
            </a:r>
          </a:p>
        </p:txBody>
      </p:sp>
      <p:sp>
        <p:nvSpPr>
          <p:cNvPr id="13" name="">
            <a:extLst xmlns:a="http://schemas.openxmlformats.org/drawingml/2006/main">
              <a:ext uri="{FF2B5EF4-FFF2-40B4-BE49-F238E27FC236}">
                <a16:creationId xmlns:a16="http://schemas.microsoft.com/office/drawing/2014/main" id="{04DD73FA-F955-4470-BE07-E3BB82268E67}"/>
              </a:ext>
            </a:extLst>
          </p:cNvPr>
          <p:cNvSpPr>
            <a:spLocks xmlns:a="http://schemas.openxmlformats.org/drawingml/2006/main" noGrp="1"/>
          </p:cNvSpPr>
          <p:nvPr/>
        </p:nvSpPr>
        <p:spPr>
          <a:xfrm xmlns:a="http://schemas.openxmlformats.org/drawingml/2006/main">
            <a:off x="7848600" y="4476750"/>
            <a:ext cx="2857500" cy="19050"/>
          </a:xfrm>
          <a:prstGeom xmlns:a="http://schemas.openxmlformats.org/drawingml/2006/main" prst="rect">
            <a:avLst/>
          </a:prstGeom>
          <a:solidFill xmlns:a="http://schemas.openxmlformats.org/drawingml/2006/main">
            <a:srgbClr val="C9D2C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BA59F98-7B97-42FD-B5CA-A6BB59442D4F}"/>
              </a:ext>
            </a:extLst>
          </p:cNvPr>
          <p:cNvSpPr>
            <a:spLocks xmlns:a="http://schemas.openxmlformats.org/drawingml/2006/main" noGrp="1"/>
          </p:cNvSpPr>
          <p:nvPr/>
        </p:nvSpPr>
        <p:spPr>
          <a:xfrm xmlns:a="http://schemas.openxmlformats.org/drawingml/2006/main">
            <a:off x="7848600" y="46101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E6F75"/>
                </a:solidFill>
                <a:latin typeface="Avenir Next"/>
                <a:ea typeface="Avenir Next"/>
                <a:cs typeface="Avenir Next"/>
              </a:defRPr>
            </a:defPPr>
            <a:lvl1pPr algn="l">
              <a:defRPr sz="1275" b="0">
                <a:solidFill>
                  <a:srgbClr val="5E6F75"/>
                </a:solidFill>
                <a:latin typeface="Avenir Next"/>
                <a:ea typeface="Avenir Next"/>
                <a:cs typeface="Avenir Next"/>
              </a:defRPr>
            </a:lvl1pPr>
            <a:lvl2pPr algn="l">
              <a:defRPr sz="1275" b="0">
                <a:solidFill>
                  <a:srgbClr val="5E6F75"/>
                </a:solidFill>
                <a:latin typeface="Avenir Next"/>
                <a:ea typeface="Avenir Next"/>
                <a:cs typeface="Avenir Next"/>
              </a:defRPr>
            </a:lvl2pPr>
            <a:lvl3pPr algn="l">
              <a:defRPr sz="1275" b="0">
                <a:solidFill>
                  <a:srgbClr val="5E6F75"/>
                </a:solidFill>
                <a:latin typeface="Avenir Next"/>
                <a:ea typeface="Avenir Next"/>
                <a:cs typeface="Avenir Next"/>
              </a:defRPr>
            </a:lvl3pPr>
            <a:lvl4pPr algn="l">
              <a:defRPr sz="1275" b="0">
                <a:solidFill>
                  <a:srgbClr val="5E6F75"/>
                </a:solidFill>
                <a:latin typeface="Avenir Next"/>
                <a:ea typeface="Avenir Next"/>
                <a:cs typeface="Avenir Next"/>
              </a:defRPr>
            </a:lvl4pPr>
            <a:lvl5pPr algn="l">
              <a:defRPr sz="1275" b="0">
                <a:solidFill>
                  <a:srgbClr val="5E6F75"/>
                </a:solidFill>
                <a:latin typeface="Avenir Next"/>
                <a:ea typeface="Avenir Next"/>
                <a:cs typeface="Avenir Next"/>
              </a:defRPr>
            </a:lvl5pPr>
            <a:lvl6pPr algn="l">
              <a:defRPr sz="1275" b="0">
                <a:solidFill>
                  <a:srgbClr val="5E6F75"/>
                </a:solidFill>
                <a:latin typeface="Avenir Next"/>
                <a:ea typeface="Avenir Next"/>
                <a:cs typeface="Avenir Next"/>
              </a:defRPr>
            </a:lvl6pPr>
            <a:lvl7pPr algn="l">
              <a:defRPr sz="1275" b="0">
                <a:solidFill>
                  <a:srgbClr val="5E6F75"/>
                </a:solidFill>
                <a:latin typeface="Avenir Next"/>
                <a:ea typeface="Avenir Next"/>
                <a:cs typeface="Avenir Next"/>
              </a:defRPr>
            </a:lvl7pPr>
            <a:lvl8pPr algn="l">
              <a:defRPr sz="1275" b="0">
                <a:solidFill>
                  <a:srgbClr val="5E6F75"/>
                </a:solidFill>
                <a:latin typeface="Avenir Next"/>
                <a:ea typeface="Avenir Next"/>
                <a:cs typeface="Avenir Next"/>
              </a:defRPr>
            </a:lvl8pPr>
            <a:lvl9pPr algn="l">
              <a:defRPr sz="1275" b="0">
                <a:solidFill>
                  <a:srgbClr val="5E6F75"/>
                </a:solidFill>
                <a:latin typeface="Avenir Next"/>
                <a:ea typeface="Avenir Next"/>
                <a:cs typeface="Avenir Next"/>
              </a:defRPr>
            </a:lvl9pPr>
          </a:lstStyle>
          <a:p xmlns:a="http://schemas.openxmlformats.org/drawingml/2006/main">
            <a:pPr algn="l">
              <a:defRPr sz="1275" b="0">
                <a:solidFill>
                  <a:srgbClr val="5E6F75"/>
                </a:solidFill>
                <a:latin typeface="Avenir Next"/>
                <a:ea typeface="Avenir Next"/>
                <a:cs typeface="Avenir Next"/>
              </a:defRPr>
            </a:pPr>
            <a:r>
              <a:rPr sz="1275" b="0">
                <a:solidFill>
                  <a:srgbClr val="5E6F75"/>
                </a:solidFill>
                <a:latin typeface="Avenir Next"/>
                <a:ea typeface="Avenir Next"/>
                <a:cs typeface="Avenir Next"/>
              </a:rPr>
              <a:t>reported cases</a:t>
            </a:r>
          </a:p>
        </p:txBody>
      </p:sp>
      <p:sp>
        <p:nvSpPr>
          <p:cNvPr id="15" name="">
            <a:extLst xmlns:a="http://schemas.openxmlformats.org/drawingml/2006/main">
              <a:ext uri="{FF2B5EF4-FFF2-40B4-BE49-F238E27FC236}">
                <a16:creationId xmlns:a16="http://schemas.microsoft.com/office/drawing/2014/main" id="{B332718D-50EC-46A1-9A5B-C08CFA008B08}"/>
              </a:ext>
            </a:extLst>
          </p:cNvPr>
          <p:cNvSpPr>
            <a:spLocks xmlns:a="http://schemas.openxmlformats.org/drawingml/2006/main" noGrp="1"/>
          </p:cNvSpPr>
          <p:nvPr/>
        </p:nvSpPr>
        <p:spPr>
          <a:xfrm xmlns:a="http://schemas.openxmlformats.org/drawingml/2006/main">
            <a:off x="628650" y="535305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0">
                <a:solidFill>
                  <a:srgbClr val="192C36"/>
                </a:solidFill>
                <a:latin typeface="Avenir Next"/>
                <a:ea typeface="Avenir Next"/>
                <a:cs typeface="Avenir Next"/>
              </a:defRPr>
            </a:defPPr>
            <a:lvl1pPr algn="l">
              <a:defRPr sz="1575" b="0">
                <a:solidFill>
                  <a:srgbClr val="192C36"/>
                </a:solidFill>
                <a:latin typeface="Avenir Next"/>
                <a:ea typeface="Avenir Next"/>
                <a:cs typeface="Avenir Next"/>
              </a:defRPr>
            </a:lvl1pPr>
            <a:lvl2pPr algn="l">
              <a:defRPr sz="1575" b="0">
                <a:solidFill>
                  <a:srgbClr val="192C36"/>
                </a:solidFill>
                <a:latin typeface="Avenir Next"/>
                <a:ea typeface="Avenir Next"/>
                <a:cs typeface="Avenir Next"/>
              </a:defRPr>
            </a:lvl2pPr>
            <a:lvl3pPr algn="l">
              <a:defRPr sz="1575" b="0">
                <a:solidFill>
                  <a:srgbClr val="192C36"/>
                </a:solidFill>
                <a:latin typeface="Avenir Next"/>
                <a:ea typeface="Avenir Next"/>
                <a:cs typeface="Avenir Next"/>
              </a:defRPr>
            </a:lvl3pPr>
            <a:lvl4pPr algn="l">
              <a:defRPr sz="1575" b="0">
                <a:solidFill>
                  <a:srgbClr val="192C36"/>
                </a:solidFill>
                <a:latin typeface="Avenir Next"/>
                <a:ea typeface="Avenir Next"/>
                <a:cs typeface="Avenir Next"/>
              </a:defRPr>
            </a:lvl4pPr>
            <a:lvl5pPr algn="l">
              <a:defRPr sz="1575" b="0">
                <a:solidFill>
                  <a:srgbClr val="192C36"/>
                </a:solidFill>
                <a:latin typeface="Avenir Next"/>
                <a:ea typeface="Avenir Next"/>
                <a:cs typeface="Avenir Next"/>
              </a:defRPr>
            </a:lvl5pPr>
            <a:lvl6pPr algn="l">
              <a:defRPr sz="1575" b="0">
                <a:solidFill>
                  <a:srgbClr val="192C36"/>
                </a:solidFill>
                <a:latin typeface="Avenir Next"/>
                <a:ea typeface="Avenir Next"/>
                <a:cs typeface="Avenir Next"/>
              </a:defRPr>
            </a:lvl6pPr>
            <a:lvl7pPr algn="l">
              <a:defRPr sz="1575" b="0">
                <a:solidFill>
                  <a:srgbClr val="192C36"/>
                </a:solidFill>
                <a:latin typeface="Avenir Next"/>
                <a:ea typeface="Avenir Next"/>
                <a:cs typeface="Avenir Next"/>
              </a:defRPr>
            </a:lvl7pPr>
            <a:lvl8pPr algn="l">
              <a:defRPr sz="1575" b="0">
                <a:solidFill>
                  <a:srgbClr val="192C36"/>
                </a:solidFill>
                <a:latin typeface="Avenir Next"/>
                <a:ea typeface="Avenir Next"/>
                <a:cs typeface="Avenir Next"/>
              </a:defRPr>
            </a:lvl8pPr>
            <a:lvl9pPr algn="l">
              <a:defRPr sz="1575" b="0">
                <a:solidFill>
                  <a:srgbClr val="192C36"/>
                </a:solidFill>
                <a:latin typeface="Avenir Next"/>
                <a:ea typeface="Avenir Next"/>
                <a:cs typeface="Avenir Next"/>
              </a:defRPr>
            </a:lvl9pPr>
          </a:lstStyle>
          <a:p xmlns:a="http://schemas.openxmlformats.org/drawingml/2006/main">
            <a:pPr algn="l">
              <a:defRPr sz="1575" b="0">
                <a:solidFill>
                  <a:srgbClr val="192C36"/>
                </a:solidFill>
                <a:latin typeface="Avenir Next"/>
                <a:ea typeface="Avenir Next"/>
                <a:cs typeface="Avenir Next"/>
              </a:defRPr>
            </a:pPr>
            <a:r>
              <a:rPr sz="1575" b="0">
                <a:solidFill>
                  <a:srgbClr val="192C36"/>
                </a:solidFill>
                <a:latin typeface="Avenir Next"/>
                <a:ea typeface="Avenir Next"/>
                <a:cs typeface="Avenir Next"/>
              </a:rPr>
              <a:t>Identity checks can pass when the real account holder is being manipulated.</a:t>
            </a:r>
          </a:p>
        </p:txBody>
      </p:sp>
      <p:sp>
        <p:nvSpPr>
          <p:cNvPr id="16" name="">
            <a:extLst xmlns:a="http://schemas.openxmlformats.org/drawingml/2006/main">
              <a:ext uri="{FF2B5EF4-FFF2-40B4-BE49-F238E27FC236}">
                <a16:creationId xmlns:a16="http://schemas.microsoft.com/office/drawing/2014/main" id="{C056C239-4C54-4135-9CA4-AEB9488A5283}"/>
              </a:ext>
            </a:extLst>
          </p:cNvPr>
          <p:cNvSpPr>
            <a:spLocks xmlns:a="http://schemas.openxmlformats.org/drawingml/2006/main" noGrp="1"/>
          </p:cNvSpPr>
          <p:nvPr/>
        </p:nvSpPr>
        <p:spPr>
          <a:xfrm xmlns:a="http://schemas.openxmlformats.org/drawingml/2006/main">
            <a:off x="628650" y="595312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5E6F75"/>
                </a:solidFill>
                <a:latin typeface="Avenir Next"/>
                <a:ea typeface="Avenir Next"/>
                <a:cs typeface="Avenir Next"/>
              </a:defRPr>
            </a:defPPr>
            <a:lvl1pPr algn="l">
              <a:defRPr sz="900" b="0">
                <a:solidFill>
                  <a:srgbClr val="5E6F75"/>
                </a:solidFill>
                <a:latin typeface="Avenir Next"/>
                <a:ea typeface="Avenir Next"/>
                <a:cs typeface="Avenir Next"/>
              </a:defRPr>
            </a:lvl1pPr>
            <a:lvl2pPr algn="l">
              <a:defRPr sz="900" b="0">
                <a:solidFill>
                  <a:srgbClr val="5E6F75"/>
                </a:solidFill>
                <a:latin typeface="Avenir Next"/>
                <a:ea typeface="Avenir Next"/>
                <a:cs typeface="Avenir Next"/>
              </a:defRPr>
            </a:lvl2pPr>
            <a:lvl3pPr algn="l">
              <a:defRPr sz="900" b="0">
                <a:solidFill>
                  <a:srgbClr val="5E6F75"/>
                </a:solidFill>
                <a:latin typeface="Avenir Next"/>
                <a:ea typeface="Avenir Next"/>
                <a:cs typeface="Avenir Next"/>
              </a:defRPr>
            </a:lvl3pPr>
            <a:lvl4pPr algn="l">
              <a:defRPr sz="900" b="0">
                <a:solidFill>
                  <a:srgbClr val="5E6F75"/>
                </a:solidFill>
                <a:latin typeface="Avenir Next"/>
                <a:ea typeface="Avenir Next"/>
                <a:cs typeface="Avenir Next"/>
              </a:defRPr>
            </a:lvl4pPr>
            <a:lvl5pPr algn="l">
              <a:defRPr sz="900" b="0">
                <a:solidFill>
                  <a:srgbClr val="5E6F75"/>
                </a:solidFill>
                <a:latin typeface="Avenir Next"/>
                <a:ea typeface="Avenir Next"/>
                <a:cs typeface="Avenir Next"/>
              </a:defRPr>
            </a:lvl5pPr>
            <a:lvl6pPr algn="l">
              <a:defRPr sz="900" b="0">
                <a:solidFill>
                  <a:srgbClr val="5E6F75"/>
                </a:solidFill>
                <a:latin typeface="Avenir Next"/>
                <a:ea typeface="Avenir Next"/>
                <a:cs typeface="Avenir Next"/>
              </a:defRPr>
            </a:lvl6pPr>
            <a:lvl7pPr algn="l">
              <a:defRPr sz="900" b="0">
                <a:solidFill>
                  <a:srgbClr val="5E6F75"/>
                </a:solidFill>
                <a:latin typeface="Avenir Next"/>
                <a:ea typeface="Avenir Next"/>
                <a:cs typeface="Avenir Next"/>
              </a:defRPr>
            </a:lvl7pPr>
            <a:lvl8pPr algn="l">
              <a:defRPr sz="900" b="0">
                <a:solidFill>
                  <a:srgbClr val="5E6F75"/>
                </a:solidFill>
                <a:latin typeface="Avenir Next"/>
                <a:ea typeface="Avenir Next"/>
                <a:cs typeface="Avenir Next"/>
              </a:defRPr>
            </a:lvl8pPr>
            <a:lvl9pPr algn="l">
              <a:defRPr sz="900" b="0">
                <a:solidFill>
                  <a:srgbClr val="5E6F75"/>
                </a:solidFill>
                <a:latin typeface="Avenir Next"/>
                <a:ea typeface="Avenir Next"/>
                <a:cs typeface="Avenir Next"/>
              </a:defRPr>
            </a:lvl9pPr>
          </a:lstStyle>
          <a:p xmlns:a="http://schemas.openxmlformats.org/drawingml/2006/main">
            <a:pPr algn="l">
              <a:defRPr sz="900" b="0">
                <a:solidFill>
                  <a:srgbClr val="5E6F75"/>
                </a:solidFill>
                <a:latin typeface="Avenir Next"/>
                <a:ea typeface="Avenir Next"/>
                <a:cs typeface="Avenir Next"/>
              </a:defRPr>
            </a:pPr>
            <a:r>
              <a:rPr sz="900" b="0">
                <a:solidFill>
                  <a:srgbClr val="5E6F75"/>
                </a:solidFill>
                <a:latin typeface="Avenir Next"/>
                <a:ea typeface="Avenir Next"/>
                <a:cs typeface="Avenir Next"/>
              </a:rPr>
              <a:t>Singapore Police Force · 2025 annual scam figures</a:t>
            </a:r>
          </a:p>
        </p:txBody>
      </p:sp>
    </p:spTree>
    <p:extLst>
      <p:ext uri="{BB962C8B-B14F-4D97-AF65-F5344CB8AC3E}">
        <p14:creationId xmlns:p14="http://schemas.microsoft.com/office/powerpoint/2010/main" val="199190798"/>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CDACFA00-93F7-4B00-BEE3-68EA618EEA5B}"/>
              </a:ext>
            </a:extLst>
          </p:cNvPr>
          <p:cNvCxnSpPr>
            <a:stCxn xmlns:a="http://schemas.openxmlformats.org/drawingml/2006/main" id="8" idx="3"/>
            <a:endCxn xmlns:a="http://schemas.openxmlformats.org/drawingml/2006/main" id="9" idx="1"/>
          </p:cNvCxnSpPr>
          <p:nvPr/>
        </p:nvCxnSpPr>
        <p:spPr>
          <a:xfrm xmlns:a="http://schemas.openxmlformats.org/drawingml/2006/main">
            <a:off x="9305925" y="3609975"/>
            <a:ext cx="733425" cy="0"/>
          </a:xfrm>
          <a:prstGeom xmlns:a="http://schemas.openxmlformats.org/drawingml/2006/main" prst="straightConnector1">
            <a:avLst/>
          </a:prstGeom>
          <a:ln xmlns:a="http://schemas.openxmlformats.org/drawingml/2006/main" w="23813">
            <a:solidFill>
              <a:srgbClr val="1D716F"/>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43D54A22-0FB4-40B0-BCB6-ECC23B697CAA}"/>
              </a:ext>
            </a:extLst>
          </p:cNvPr>
          <p:cNvCxnSpPr>
            <a:stCxn xmlns:a="http://schemas.openxmlformats.org/drawingml/2006/main" id="7" idx="3"/>
            <a:endCxn xmlns:a="http://schemas.openxmlformats.org/drawingml/2006/main" id="8" idx="1"/>
          </p:cNvCxnSpPr>
          <p:nvPr/>
        </p:nvCxnSpPr>
        <p:spPr>
          <a:xfrm xmlns:a="http://schemas.openxmlformats.org/drawingml/2006/main">
            <a:off x="6562725" y="3609975"/>
            <a:ext cx="742950" cy="0"/>
          </a:xfrm>
          <a:prstGeom xmlns:a="http://schemas.openxmlformats.org/drawingml/2006/main" prst="straightConnector1">
            <a:avLst/>
          </a:prstGeom>
          <a:ln xmlns:a="http://schemas.openxmlformats.org/drawingml/2006/main" w="23813">
            <a:solidFill>
              <a:srgbClr val="1D716F"/>
            </a:solidFill>
            <a:prstDash val="solid"/>
            <a:tailEnd type="arrow" w="med" len="med"/>
          </a:ln>
        </p:spPr>
      </p:cxnSp>
      <p:cxnSp>
        <p:nvCxnSpPr>
          <p:cNvPr id="10" name="">
            <a:extLst xmlns:a="http://schemas.openxmlformats.org/drawingml/2006/main">
              <a:ext uri="{FF2B5EF4-FFF2-40B4-BE49-F238E27FC236}">
                <a16:creationId xmlns:a16="http://schemas.microsoft.com/office/drawing/2014/main" id="{7189335E-7305-41E2-B1C0-05115933FF2C}"/>
              </a:ext>
            </a:extLst>
          </p:cNvPr>
          <p:cNvCxnSpPr>
            <a:stCxn xmlns:a="http://schemas.openxmlformats.org/drawingml/2006/main" id="6" idx="3"/>
            <a:endCxn xmlns:a="http://schemas.openxmlformats.org/drawingml/2006/main" id="7" idx="1"/>
          </p:cNvCxnSpPr>
          <p:nvPr/>
        </p:nvCxnSpPr>
        <p:spPr>
          <a:xfrm xmlns:a="http://schemas.openxmlformats.org/drawingml/2006/main">
            <a:off x="2962275" y="3609975"/>
            <a:ext cx="742950" cy="0"/>
          </a:xfrm>
          <a:prstGeom xmlns:a="http://schemas.openxmlformats.org/drawingml/2006/main" prst="straightConnector1">
            <a:avLst/>
          </a:prstGeom>
          <a:ln xmlns:a="http://schemas.openxmlformats.org/drawingml/2006/main" w="23813">
            <a:solidFill>
              <a:srgbClr val="1D716F"/>
            </a:solidFill>
            <a:prstDash val="solid"/>
            <a:tailEnd type="arrow" w="med" len="med"/>
          </a:ln>
        </p:spPr>
      </p:cxnSp>
      <p:sp>
        <p:nvSpPr>
          <p:cNvPr id="24" name="">
            <a:extLst xmlns:a="http://schemas.openxmlformats.org/drawingml/2006/main">
              <a:ext uri="{FF2B5EF4-FFF2-40B4-BE49-F238E27FC236}">
                <a16:creationId xmlns:a16="http://schemas.microsoft.com/office/drawing/2014/main" id="{C5AD07EA-159D-4518-8754-7C7BF503955C}"/>
              </a:ext>
            </a:extLst>
          </p:cNvPr>
          <p:cNvSpPr>
            <a:spLocks xmlns:a="http://schemas.openxmlformats.org/drawingml/2006/main" noGrp="1"/>
          </p:cNvSpPr>
          <p:nvPr/>
        </p:nvSpPr>
        <p:spPr>
          <a:xfrm xmlns:a="http://schemas.openxmlformats.org/drawingml/2006/main">
            <a:off x="590550" y="32385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E6F75"/>
                </a:solidFill>
                <a:latin typeface="Avenir Next"/>
                <a:ea typeface="Avenir Next"/>
                <a:cs typeface="Avenir Next"/>
              </a:defRPr>
            </a:defPPr>
            <a:lvl1pPr algn="l">
              <a:defRPr sz="900" b="1">
                <a:solidFill>
                  <a:srgbClr val="5E6F75"/>
                </a:solidFill>
                <a:latin typeface="Avenir Next"/>
                <a:ea typeface="Avenir Next"/>
                <a:cs typeface="Avenir Next"/>
              </a:defRPr>
            </a:lvl1pPr>
            <a:lvl2pPr algn="l">
              <a:defRPr sz="900" b="1">
                <a:solidFill>
                  <a:srgbClr val="5E6F75"/>
                </a:solidFill>
                <a:latin typeface="Avenir Next"/>
                <a:ea typeface="Avenir Next"/>
                <a:cs typeface="Avenir Next"/>
              </a:defRPr>
            </a:lvl2pPr>
            <a:lvl3pPr algn="l">
              <a:defRPr sz="900" b="1">
                <a:solidFill>
                  <a:srgbClr val="5E6F75"/>
                </a:solidFill>
                <a:latin typeface="Avenir Next"/>
                <a:ea typeface="Avenir Next"/>
                <a:cs typeface="Avenir Next"/>
              </a:defRPr>
            </a:lvl3pPr>
            <a:lvl4pPr algn="l">
              <a:defRPr sz="900" b="1">
                <a:solidFill>
                  <a:srgbClr val="5E6F75"/>
                </a:solidFill>
                <a:latin typeface="Avenir Next"/>
                <a:ea typeface="Avenir Next"/>
                <a:cs typeface="Avenir Next"/>
              </a:defRPr>
            </a:lvl4pPr>
            <a:lvl5pPr algn="l">
              <a:defRPr sz="900" b="1">
                <a:solidFill>
                  <a:srgbClr val="5E6F75"/>
                </a:solidFill>
                <a:latin typeface="Avenir Next"/>
                <a:ea typeface="Avenir Next"/>
                <a:cs typeface="Avenir Next"/>
              </a:defRPr>
            </a:lvl5pPr>
            <a:lvl6pPr algn="l">
              <a:defRPr sz="900" b="1">
                <a:solidFill>
                  <a:srgbClr val="5E6F75"/>
                </a:solidFill>
                <a:latin typeface="Avenir Next"/>
                <a:ea typeface="Avenir Next"/>
                <a:cs typeface="Avenir Next"/>
              </a:defRPr>
            </a:lvl6pPr>
            <a:lvl7pPr algn="l">
              <a:defRPr sz="900" b="1">
                <a:solidFill>
                  <a:srgbClr val="5E6F75"/>
                </a:solidFill>
                <a:latin typeface="Avenir Next"/>
                <a:ea typeface="Avenir Next"/>
                <a:cs typeface="Avenir Next"/>
              </a:defRPr>
            </a:lvl7pPr>
            <a:lvl8pPr algn="l">
              <a:defRPr sz="900" b="1">
                <a:solidFill>
                  <a:srgbClr val="5E6F75"/>
                </a:solidFill>
                <a:latin typeface="Avenir Next"/>
                <a:ea typeface="Avenir Next"/>
                <a:cs typeface="Avenir Next"/>
              </a:defRPr>
            </a:lvl8pPr>
            <a:lvl9pPr algn="l">
              <a:defRPr sz="900" b="1">
                <a:solidFill>
                  <a:srgbClr val="5E6F75"/>
                </a:solidFill>
                <a:latin typeface="Avenir Next"/>
                <a:ea typeface="Avenir Next"/>
                <a:cs typeface="Avenir Next"/>
              </a:defRPr>
            </a:lvl9pPr>
          </a:lstStyle>
          <a:p xmlns:a="http://schemas.openxmlformats.org/drawingml/2006/main">
            <a:pPr algn="l">
              <a:defRPr sz="900" b="1">
                <a:solidFill>
                  <a:srgbClr val="5E6F75"/>
                </a:solidFill>
                <a:latin typeface="Avenir Next"/>
                <a:ea typeface="Avenir Next"/>
                <a:cs typeface="Avenir Next"/>
              </a:defRPr>
            </a:pPr>
            <a:r>
              <a:rPr sz="900" b="1">
                <a:solidFill>
                  <a:srgbClr val="5E6F75"/>
                </a:solidFill>
                <a:latin typeface="Avenir Next"/>
                <a:ea typeface="Avenir Next"/>
                <a:cs typeface="Avenir Next"/>
              </a:rPr>
              <a:t>TOKENMAXXERS    /    IBM Z DATATHON 2026</a:t>
            </a:r>
          </a:p>
        </p:txBody>
      </p:sp>
      <p:sp>
        <p:nvSpPr>
          <p:cNvPr id="2" name="">
            <a:extLst xmlns:a="http://schemas.openxmlformats.org/drawingml/2006/main">
              <a:ext uri="{FF2B5EF4-FFF2-40B4-BE49-F238E27FC236}">
                <a16:creationId xmlns:a16="http://schemas.microsoft.com/office/drawing/2014/main" id="{21B2BFBA-A00E-4BDE-864F-3819579DB2CD}"/>
              </a:ext>
            </a:extLst>
          </p:cNvPr>
          <p:cNvSpPr>
            <a:spLocks xmlns:a="http://schemas.openxmlformats.org/drawingml/2006/main" noGrp="1"/>
          </p:cNvSpPr>
          <p:nvPr/>
        </p:nvSpPr>
        <p:spPr>
          <a:xfrm xmlns:a="http://schemas.openxmlformats.org/drawingml/2006/main">
            <a:off x="59055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0">
                <a:solidFill>
                  <a:srgbClr val="5E6F75"/>
                </a:solidFill>
                <a:latin typeface="Avenir Next"/>
                <a:ea typeface="Avenir Next"/>
                <a:cs typeface="Avenir Next"/>
              </a:defRPr>
            </a:defPPr>
            <a:lvl1pPr algn="l">
              <a:defRPr sz="825" b="0">
                <a:solidFill>
                  <a:srgbClr val="5E6F75"/>
                </a:solidFill>
                <a:latin typeface="Avenir Next"/>
                <a:ea typeface="Avenir Next"/>
                <a:cs typeface="Avenir Next"/>
              </a:defRPr>
            </a:lvl1pPr>
            <a:lvl2pPr algn="l">
              <a:defRPr sz="825" b="0">
                <a:solidFill>
                  <a:srgbClr val="5E6F75"/>
                </a:solidFill>
                <a:latin typeface="Avenir Next"/>
                <a:ea typeface="Avenir Next"/>
                <a:cs typeface="Avenir Next"/>
              </a:defRPr>
            </a:lvl2pPr>
            <a:lvl3pPr algn="l">
              <a:defRPr sz="825" b="0">
                <a:solidFill>
                  <a:srgbClr val="5E6F75"/>
                </a:solidFill>
                <a:latin typeface="Avenir Next"/>
                <a:ea typeface="Avenir Next"/>
                <a:cs typeface="Avenir Next"/>
              </a:defRPr>
            </a:lvl3pPr>
            <a:lvl4pPr algn="l">
              <a:defRPr sz="825" b="0">
                <a:solidFill>
                  <a:srgbClr val="5E6F75"/>
                </a:solidFill>
                <a:latin typeface="Avenir Next"/>
                <a:ea typeface="Avenir Next"/>
                <a:cs typeface="Avenir Next"/>
              </a:defRPr>
            </a:lvl4pPr>
            <a:lvl5pPr algn="l">
              <a:defRPr sz="825" b="0">
                <a:solidFill>
                  <a:srgbClr val="5E6F75"/>
                </a:solidFill>
                <a:latin typeface="Avenir Next"/>
                <a:ea typeface="Avenir Next"/>
                <a:cs typeface="Avenir Next"/>
              </a:defRPr>
            </a:lvl5pPr>
            <a:lvl6pPr algn="l">
              <a:defRPr sz="825" b="0">
                <a:solidFill>
                  <a:srgbClr val="5E6F75"/>
                </a:solidFill>
                <a:latin typeface="Avenir Next"/>
                <a:ea typeface="Avenir Next"/>
                <a:cs typeface="Avenir Next"/>
              </a:defRPr>
            </a:lvl6pPr>
            <a:lvl7pPr algn="l">
              <a:defRPr sz="825" b="0">
                <a:solidFill>
                  <a:srgbClr val="5E6F75"/>
                </a:solidFill>
                <a:latin typeface="Avenir Next"/>
                <a:ea typeface="Avenir Next"/>
                <a:cs typeface="Avenir Next"/>
              </a:defRPr>
            </a:lvl7pPr>
            <a:lvl8pPr algn="l">
              <a:defRPr sz="825" b="0">
                <a:solidFill>
                  <a:srgbClr val="5E6F75"/>
                </a:solidFill>
                <a:latin typeface="Avenir Next"/>
                <a:ea typeface="Avenir Next"/>
                <a:cs typeface="Avenir Next"/>
              </a:defRPr>
            </a:lvl8pPr>
            <a:lvl9pPr algn="l">
              <a:defRPr sz="825" b="0">
                <a:solidFill>
                  <a:srgbClr val="5E6F75"/>
                </a:solidFill>
                <a:latin typeface="Avenir Next"/>
                <a:ea typeface="Avenir Next"/>
                <a:cs typeface="Avenir Next"/>
              </a:defRPr>
            </a:lvl9pPr>
          </a:lstStyle>
          <a:p xmlns:a="http://schemas.openxmlformats.org/drawingml/2006/main">
            <a:pPr algn="l">
              <a:defRPr sz="825" b="0">
                <a:solidFill>
                  <a:srgbClr val="5E6F75"/>
                </a:solidFill>
                <a:latin typeface="Avenir Next"/>
                <a:ea typeface="Avenir Next"/>
                <a:cs typeface="Avenir Next"/>
              </a:defRPr>
            </a:pPr>
            <a:r>
              <a:rPr sz="825" b="0">
                <a:solidFill>
                  <a:srgbClr val="5E6F75"/>
                </a:solidFill>
                <a:latin typeface="Avenir Next"/>
                <a:ea typeface="Avenir Next"/>
                <a:cs typeface="Avenir Next"/>
              </a:rPr>
              <a:t>SPELLBREAKER   ·   THE FLOW</a:t>
            </a:r>
          </a:p>
        </p:txBody>
      </p:sp>
      <p:sp>
        <p:nvSpPr>
          <p:cNvPr id="3" name="">
            <a:extLst xmlns:a="http://schemas.openxmlformats.org/drawingml/2006/main">
              <a:ext uri="{FF2B5EF4-FFF2-40B4-BE49-F238E27FC236}">
                <a16:creationId xmlns:a16="http://schemas.microsoft.com/office/drawing/2014/main" id="{3B0D6385-B86B-4F83-8270-3F33B444AFC8}"/>
              </a:ext>
            </a:extLst>
          </p:cNvPr>
          <p:cNvSpPr>
            <a:spLocks xmlns:a="http://schemas.openxmlformats.org/drawingml/2006/main" noGrp="1"/>
          </p:cNvSpPr>
          <p:nvPr/>
        </p:nvSpPr>
        <p:spPr>
          <a:xfrm xmlns:a="http://schemas.openxmlformats.org/drawingml/2006/main">
            <a:off x="11144250" y="64198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5E6F75"/>
                </a:solidFill>
                <a:latin typeface="Avenir Next"/>
                <a:ea typeface="Avenir Next"/>
                <a:cs typeface="Avenir Next"/>
              </a:defRPr>
            </a:defPPr>
            <a:lvl1pPr algn="r">
              <a:defRPr sz="825" b="1">
                <a:solidFill>
                  <a:srgbClr val="5E6F75"/>
                </a:solidFill>
                <a:latin typeface="Avenir Next"/>
                <a:ea typeface="Avenir Next"/>
                <a:cs typeface="Avenir Next"/>
              </a:defRPr>
            </a:lvl1pPr>
            <a:lvl2pPr algn="r">
              <a:defRPr sz="825" b="1">
                <a:solidFill>
                  <a:srgbClr val="5E6F75"/>
                </a:solidFill>
                <a:latin typeface="Avenir Next"/>
                <a:ea typeface="Avenir Next"/>
                <a:cs typeface="Avenir Next"/>
              </a:defRPr>
            </a:lvl2pPr>
            <a:lvl3pPr algn="r">
              <a:defRPr sz="825" b="1">
                <a:solidFill>
                  <a:srgbClr val="5E6F75"/>
                </a:solidFill>
                <a:latin typeface="Avenir Next"/>
                <a:ea typeface="Avenir Next"/>
                <a:cs typeface="Avenir Next"/>
              </a:defRPr>
            </a:lvl3pPr>
            <a:lvl4pPr algn="r">
              <a:defRPr sz="825" b="1">
                <a:solidFill>
                  <a:srgbClr val="5E6F75"/>
                </a:solidFill>
                <a:latin typeface="Avenir Next"/>
                <a:ea typeface="Avenir Next"/>
                <a:cs typeface="Avenir Next"/>
              </a:defRPr>
            </a:lvl4pPr>
            <a:lvl5pPr algn="r">
              <a:defRPr sz="825" b="1">
                <a:solidFill>
                  <a:srgbClr val="5E6F75"/>
                </a:solidFill>
                <a:latin typeface="Avenir Next"/>
                <a:ea typeface="Avenir Next"/>
                <a:cs typeface="Avenir Next"/>
              </a:defRPr>
            </a:lvl5pPr>
            <a:lvl6pPr algn="r">
              <a:defRPr sz="825" b="1">
                <a:solidFill>
                  <a:srgbClr val="5E6F75"/>
                </a:solidFill>
                <a:latin typeface="Avenir Next"/>
                <a:ea typeface="Avenir Next"/>
                <a:cs typeface="Avenir Next"/>
              </a:defRPr>
            </a:lvl6pPr>
            <a:lvl7pPr algn="r">
              <a:defRPr sz="825" b="1">
                <a:solidFill>
                  <a:srgbClr val="5E6F75"/>
                </a:solidFill>
                <a:latin typeface="Avenir Next"/>
                <a:ea typeface="Avenir Next"/>
                <a:cs typeface="Avenir Next"/>
              </a:defRPr>
            </a:lvl7pPr>
            <a:lvl8pPr algn="r">
              <a:defRPr sz="825" b="1">
                <a:solidFill>
                  <a:srgbClr val="5E6F75"/>
                </a:solidFill>
                <a:latin typeface="Avenir Next"/>
                <a:ea typeface="Avenir Next"/>
                <a:cs typeface="Avenir Next"/>
              </a:defRPr>
            </a:lvl8pPr>
            <a:lvl9pPr algn="r">
              <a:defRPr sz="825" b="1">
                <a:solidFill>
                  <a:srgbClr val="5E6F75"/>
                </a:solidFill>
                <a:latin typeface="Avenir Next"/>
                <a:ea typeface="Avenir Next"/>
                <a:cs typeface="Avenir Next"/>
              </a:defRPr>
            </a:lvl9pPr>
          </a:lstStyle>
          <a:p xmlns:a="http://schemas.openxmlformats.org/drawingml/2006/main">
            <a:pPr algn="r">
              <a:defRPr sz="825" b="1">
                <a:solidFill>
                  <a:srgbClr val="5E6F75"/>
                </a:solidFill>
                <a:latin typeface="Avenir Next"/>
                <a:ea typeface="Avenir Next"/>
                <a:cs typeface="Avenir Next"/>
              </a:defRPr>
            </a:pPr>
            <a:r>
              <a:rPr sz="825" b="1">
                <a:solidFill>
                  <a:srgbClr val="5E6F75"/>
                </a:solidFill>
                <a:latin typeface="Avenir Next"/>
                <a:ea typeface="Avenir Next"/>
                <a:cs typeface="Avenir Next"/>
              </a:rPr>
              <a:t>03</a:t>
            </a:r>
          </a:p>
        </p:txBody>
      </p:sp>
      <p:sp>
        <p:nvSpPr>
          <p:cNvPr id="4" name="">
            <a:extLst xmlns:a="http://schemas.openxmlformats.org/drawingml/2006/main">
              <a:ext uri="{FF2B5EF4-FFF2-40B4-BE49-F238E27FC236}">
                <a16:creationId xmlns:a16="http://schemas.microsoft.com/office/drawing/2014/main" id="{4A6BE32B-C38A-489E-AA95-17BF87584385}"/>
              </a:ext>
            </a:extLst>
          </p:cNvPr>
          <p:cNvSpPr>
            <a:spLocks xmlns:a="http://schemas.openxmlformats.org/drawingml/2006/main" noGrp="1"/>
          </p:cNvSpPr>
          <p:nvPr/>
        </p:nvSpPr>
        <p:spPr>
          <a:xfrm xmlns:a="http://schemas.openxmlformats.org/drawingml/2006/main">
            <a:off x="590550" y="83820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700" b="1">
                <a:solidFill>
                  <a:srgbClr val="192C36"/>
                </a:solidFill>
                <a:latin typeface="Avenir Next"/>
                <a:ea typeface="Avenir Next"/>
                <a:cs typeface="Avenir Next"/>
              </a:defRPr>
            </a:defPPr>
            <a:lvl1pPr algn="l">
              <a:defRPr sz="2700" b="1">
                <a:solidFill>
                  <a:srgbClr val="192C36"/>
                </a:solidFill>
                <a:latin typeface="Avenir Next"/>
                <a:ea typeface="Avenir Next"/>
                <a:cs typeface="Avenir Next"/>
              </a:defRPr>
            </a:lvl1pPr>
            <a:lvl2pPr algn="l">
              <a:defRPr sz="2700" b="1">
                <a:solidFill>
                  <a:srgbClr val="192C36"/>
                </a:solidFill>
                <a:latin typeface="Avenir Next"/>
                <a:ea typeface="Avenir Next"/>
                <a:cs typeface="Avenir Next"/>
              </a:defRPr>
            </a:lvl2pPr>
            <a:lvl3pPr algn="l">
              <a:defRPr sz="2700" b="1">
                <a:solidFill>
                  <a:srgbClr val="192C36"/>
                </a:solidFill>
                <a:latin typeface="Avenir Next"/>
                <a:ea typeface="Avenir Next"/>
                <a:cs typeface="Avenir Next"/>
              </a:defRPr>
            </a:lvl3pPr>
            <a:lvl4pPr algn="l">
              <a:defRPr sz="2700" b="1">
                <a:solidFill>
                  <a:srgbClr val="192C36"/>
                </a:solidFill>
                <a:latin typeface="Avenir Next"/>
                <a:ea typeface="Avenir Next"/>
                <a:cs typeface="Avenir Next"/>
              </a:defRPr>
            </a:lvl4pPr>
            <a:lvl5pPr algn="l">
              <a:defRPr sz="2700" b="1">
                <a:solidFill>
                  <a:srgbClr val="192C36"/>
                </a:solidFill>
                <a:latin typeface="Avenir Next"/>
                <a:ea typeface="Avenir Next"/>
                <a:cs typeface="Avenir Next"/>
              </a:defRPr>
            </a:lvl5pPr>
            <a:lvl6pPr algn="l">
              <a:defRPr sz="2700" b="1">
                <a:solidFill>
                  <a:srgbClr val="192C36"/>
                </a:solidFill>
                <a:latin typeface="Avenir Next"/>
                <a:ea typeface="Avenir Next"/>
                <a:cs typeface="Avenir Next"/>
              </a:defRPr>
            </a:lvl6pPr>
            <a:lvl7pPr algn="l">
              <a:defRPr sz="2700" b="1">
                <a:solidFill>
                  <a:srgbClr val="192C36"/>
                </a:solidFill>
                <a:latin typeface="Avenir Next"/>
                <a:ea typeface="Avenir Next"/>
                <a:cs typeface="Avenir Next"/>
              </a:defRPr>
            </a:lvl7pPr>
            <a:lvl8pPr algn="l">
              <a:defRPr sz="2700" b="1">
                <a:solidFill>
                  <a:srgbClr val="192C36"/>
                </a:solidFill>
                <a:latin typeface="Avenir Next"/>
                <a:ea typeface="Avenir Next"/>
                <a:cs typeface="Avenir Next"/>
              </a:defRPr>
            </a:lvl8pPr>
            <a:lvl9pPr algn="l">
              <a:defRPr sz="2700" b="1">
                <a:solidFill>
                  <a:srgbClr val="192C36"/>
                </a:solidFill>
                <a:latin typeface="Avenir Next"/>
                <a:ea typeface="Avenir Next"/>
                <a:cs typeface="Avenir Next"/>
              </a:defRPr>
            </a:lvl9pPr>
          </a:lstStyle>
          <a:p xmlns:a="http://schemas.openxmlformats.org/drawingml/2006/main">
            <a:pPr algn="l">
              <a:defRPr sz="2700" b="1">
                <a:solidFill>
                  <a:srgbClr val="192C36"/>
                </a:solidFill>
                <a:latin typeface="Avenir Next"/>
                <a:ea typeface="Avenir Next"/>
                <a:cs typeface="Avenir Next"/>
              </a:defRPr>
            </a:pPr>
            <a:r>
              <a:rPr sz="2700" b="1">
                <a:solidFill>
                  <a:srgbClr val="192C36"/>
                </a:solidFill>
                <a:latin typeface="Avenir Next"/>
                <a:ea typeface="Avenir Next"/>
                <a:cs typeface="Avenir Next"/>
              </a:rPr>
              <a:t>A quick check before the transfer leaves.</a:t>
            </a:r>
          </a:p>
        </p:txBody>
      </p:sp>
      <p:sp>
        <p:nvSpPr>
          <p:cNvPr id="5" name="">
            <a:extLst xmlns:a="http://schemas.openxmlformats.org/drawingml/2006/main">
              <a:ext uri="{FF2B5EF4-FFF2-40B4-BE49-F238E27FC236}">
                <a16:creationId xmlns:a16="http://schemas.microsoft.com/office/drawing/2014/main" id="{D2BCC8AC-A6AB-4C9D-A17C-96D5AC38DA85}"/>
              </a:ext>
            </a:extLst>
          </p:cNvPr>
          <p:cNvSpPr>
            <a:spLocks xmlns:a="http://schemas.openxmlformats.org/drawingml/2006/main" noGrp="1"/>
          </p:cNvSpPr>
          <p:nvPr/>
        </p:nvSpPr>
        <p:spPr>
          <a:xfrm xmlns:a="http://schemas.openxmlformats.org/drawingml/2006/main">
            <a:off x="619125" y="14287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E6F75"/>
                </a:solidFill>
                <a:latin typeface="Avenir Next"/>
                <a:ea typeface="Avenir Next"/>
                <a:cs typeface="Avenir Next"/>
              </a:defRPr>
            </a:defPPr>
            <a:lvl1pPr algn="l">
              <a:defRPr sz="1350" b="0">
                <a:solidFill>
                  <a:srgbClr val="5E6F75"/>
                </a:solidFill>
                <a:latin typeface="Avenir Next"/>
                <a:ea typeface="Avenir Next"/>
                <a:cs typeface="Avenir Next"/>
              </a:defRPr>
            </a:lvl1pPr>
            <a:lvl2pPr algn="l">
              <a:defRPr sz="1350" b="0">
                <a:solidFill>
                  <a:srgbClr val="5E6F75"/>
                </a:solidFill>
                <a:latin typeface="Avenir Next"/>
                <a:ea typeface="Avenir Next"/>
                <a:cs typeface="Avenir Next"/>
              </a:defRPr>
            </a:lvl2pPr>
            <a:lvl3pPr algn="l">
              <a:defRPr sz="1350" b="0">
                <a:solidFill>
                  <a:srgbClr val="5E6F75"/>
                </a:solidFill>
                <a:latin typeface="Avenir Next"/>
                <a:ea typeface="Avenir Next"/>
                <a:cs typeface="Avenir Next"/>
              </a:defRPr>
            </a:lvl3pPr>
            <a:lvl4pPr algn="l">
              <a:defRPr sz="1350" b="0">
                <a:solidFill>
                  <a:srgbClr val="5E6F75"/>
                </a:solidFill>
                <a:latin typeface="Avenir Next"/>
                <a:ea typeface="Avenir Next"/>
                <a:cs typeface="Avenir Next"/>
              </a:defRPr>
            </a:lvl4pPr>
            <a:lvl5pPr algn="l">
              <a:defRPr sz="1350" b="0">
                <a:solidFill>
                  <a:srgbClr val="5E6F75"/>
                </a:solidFill>
                <a:latin typeface="Avenir Next"/>
                <a:ea typeface="Avenir Next"/>
                <a:cs typeface="Avenir Next"/>
              </a:defRPr>
            </a:lvl5pPr>
            <a:lvl6pPr algn="l">
              <a:defRPr sz="1350" b="0">
                <a:solidFill>
                  <a:srgbClr val="5E6F75"/>
                </a:solidFill>
                <a:latin typeface="Avenir Next"/>
                <a:ea typeface="Avenir Next"/>
                <a:cs typeface="Avenir Next"/>
              </a:defRPr>
            </a:lvl6pPr>
            <a:lvl7pPr algn="l">
              <a:defRPr sz="1350" b="0">
                <a:solidFill>
                  <a:srgbClr val="5E6F75"/>
                </a:solidFill>
                <a:latin typeface="Avenir Next"/>
                <a:ea typeface="Avenir Next"/>
                <a:cs typeface="Avenir Next"/>
              </a:defRPr>
            </a:lvl7pPr>
            <a:lvl8pPr algn="l">
              <a:defRPr sz="1350" b="0">
                <a:solidFill>
                  <a:srgbClr val="5E6F75"/>
                </a:solidFill>
                <a:latin typeface="Avenir Next"/>
                <a:ea typeface="Avenir Next"/>
                <a:cs typeface="Avenir Next"/>
              </a:defRPr>
            </a:lvl8pPr>
            <a:lvl9pPr algn="l">
              <a:defRPr sz="1350" b="0">
                <a:solidFill>
                  <a:srgbClr val="5E6F75"/>
                </a:solidFill>
                <a:latin typeface="Avenir Next"/>
                <a:ea typeface="Avenir Next"/>
                <a:cs typeface="Avenir Next"/>
              </a:defRPr>
            </a:lvl9pPr>
          </a:lstStyle>
          <a:p xmlns:a="http://schemas.openxmlformats.org/drawingml/2006/main">
            <a:pPr algn="l">
              <a:defRPr sz="1350" b="0">
                <a:solidFill>
                  <a:srgbClr val="5E6F75"/>
                </a:solidFill>
                <a:latin typeface="Avenir Next"/>
                <a:ea typeface="Avenir Next"/>
                <a:cs typeface="Avenir Next"/>
              </a:defRPr>
            </a:pPr>
            <a:r>
              <a:rPr sz="1350" b="0">
                <a:solidFill>
                  <a:srgbClr val="5E6F75"/>
                </a:solidFill>
                <a:latin typeface="Avenir Next"/>
                <a:ea typeface="Avenir Next"/>
                <a:cs typeface="Avenir Next"/>
              </a:rPr>
              <a:t>Signals in. A useful interruption out.</a:t>
            </a:r>
          </a:p>
        </p:txBody>
      </p:sp>
      <p:sp>
        <p:nvSpPr>
          <p:cNvPr id="6" name="">
            <a:extLst xmlns:a="http://schemas.openxmlformats.org/drawingml/2006/main">
              <a:ext uri="{FF2B5EF4-FFF2-40B4-BE49-F238E27FC236}">
                <a16:creationId xmlns:a16="http://schemas.microsoft.com/office/drawing/2014/main" id="{8F085170-9777-478C-BD5D-2C0E372C7B7B}"/>
              </a:ext>
            </a:extLst>
          </p:cNvPr>
          <p:cNvSpPr>
            <a:spLocks xmlns:a="http://schemas.openxmlformats.org/drawingml/2006/main" noGrp="1"/>
          </p:cNvSpPr>
          <p:nvPr/>
        </p:nvSpPr>
        <p:spPr>
          <a:xfrm xmlns:a="http://schemas.openxmlformats.org/drawingml/2006/main">
            <a:off x="628650" y="2524125"/>
            <a:ext cx="2333625"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13335">
            <a:solidFill>
              <a:srgbClr val="C9D2CF"/>
            </a:solidFill>
            <a:prstDash val="solid"/>
          </a:ln>
        </p:spPr>
      </p:sp>
      <p:sp>
        <p:nvSpPr>
          <p:cNvPr id="7" name="">
            <a:extLst xmlns:a="http://schemas.openxmlformats.org/drawingml/2006/main">
              <a:ext uri="{FF2B5EF4-FFF2-40B4-BE49-F238E27FC236}">
                <a16:creationId xmlns:a16="http://schemas.microsoft.com/office/drawing/2014/main" id="{C24C386E-BEB8-4E18-8DEF-D73AFE9CA36A}"/>
              </a:ext>
            </a:extLst>
          </p:cNvPr>
          <p:cNvSpPr>
            <a:spLocks xmlns:a="http://schemas.openxmlformats.org/drawingml/2006/main" noGrp="1"/>
          </p:cNvSpPr>
          <p:nvPr/>
        </p:nvSpPr>
        <p:spPr>
          <a:xfrm xmlns:a="http://schemas.openxmlformats.org/drawingml/2006/main">
            <a:off x="3705225" y="2524125"/>
            <a:ext cx="2857500" cy="2171700"/>
          </a:xfrm>
          <a:prstGeom xmlns:a="http://schemas.openxmlformats.org/drawingml/2006/main" prst="roundRect">
            <a:avLst>
              <a:gd name="adj" fmla="val 3509"/>
            </a:avLst>
          </a:prstGeom>
          <a:solidFill xmlns:a="http://schemas.openxmlformats.org/drawingml/2006/main">
            <a:srgbClr val="DCEBE8"/>
          </a:solidFill>
          <a:ln xmlns:a="http://schemas.openxmlformats.org/drawingml/2006/main" w="13335">
            <a:solidFill>
              <a:srgbClr val="9BBDB6"/>
            </a:solidFill>
            <a:prstDash val="solid"/>
          </a:ln>
        </p:spPr>
      </p:sp>
      <p:sp>
        <p:nvSpPr>
          <p:cNvPr id="8" name="">
            <a:extLst xmlns:a="http://schemas.openxmlformats.org/drawingml/2006/main">
              <a:ext uri="{FF2B5EF4-FFF2-40B4-BE49-F238E27FC236}">
                <a16:creationId xmlns:a16="http://schemas.microsoft.com/office/drawing/2014/main" id="{B6307A7C-4A74-429B-81FE-72D6670321CB}"/>
              </a:ext>
            </a:extLst>
          </p:cNvPr>
          <p:cNvSpPr>
            <a:spLocks xmlns:a="http://schemas.openxmlformats.org/drawingml/2006/main" noGrp="1"/>
          </p:cNvSpPr>
          <p:nvPr/>
        </p:nvSpPr>
        <p:spPr>
          <a:xfrm xmlns:a="http://schemas.openxmlformats.org/drawingml/2006/main">
            <a:off x="7305675" y="2524125"/>
            <a:ext cx="2000250" cy="217170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3335">
            <a:solidFill>
              <a:srgbClr val="C9D2CF"/>
            </a:solidFill>
            <a:prstDash val="solid"/>
          </a:ln>
        </p:spPr>
      </p:sp>
      <p:sp>
        <p:nvSpPr>
          <p:cNvPr id="9" name="">
            <a:extLst xmlns:a="http://schemas.openxmlformats.org/drawingml/2006/main">
              <a:ext uri="{FF2B5EF4-FFF2-40B4-BE49-F238E27FC236}">
                <a16:creationId xmlns:a16="http://schemas.microsoft.com/office/drawing/2014/main" id="{4BB45F34-E0DD-4F0D-95ED-FBD748F8767C}"/>
              </a:ext>
            </a:extLst>
          </p:cNvPr>
          <p:cNvSpPr>
            <a:spLocks xmlns:a="http://schemas.openxmlformats.org/drawingml/2006/main" noGrp="1"/>
          </p:cNvSpPr>
          <p:nvPr/>
        </p:nvSpPr>
        <p:spPr>
          <a:xfrm xmlns:a="http://schemas.openxmlformats.org/drawingml/2006/main">
            <a:off x="10039350" y="2524125"/>
            <a:ext cx="1581150" cy="2171700"/>
          </a:xfrm>
          <a:prstGeom xmlns:a="http://schemas.openxmlformats.org/drawingml/2006/main" prst="roundRect">
            <a:avLst>
              <a:gd name="adj" fmla="val 4819"/>
            </a:avLst>
          </a:prstGeom>
          <a:solidFill xmlns:a="http://schemas.openxmlformats.org/drawingml/2006/main">
            <a:srgbClr val="192C36"/>
          </a:solidFill>
          <a:ln xmlns:a="http://schemas.openxmlformats.org/drawingml/2006/main" w="13335">
            <a:solidFill>
              <a:srgbClr val="192C36"/>
            </a:solidFill>
            <a:prstDash val="solid"/>
          </a:ln>
        </p:spPr>
      </p:sp>
      <p:sp>
        <p:nvSpPr>
          <p:cNvPr id="13" name="">
            <a:extLst xmlns:a="http://schemas.openxmlformats.org/drawingml/2006/main">
              <a:ext uri="{FF2B5EF4-FFF2-40B4-BE49-F238E27FC236}">
                <a16:creationId xmlns:a16="http://schemas.microsoft.com/office/drawing/2014/main" id="{24C6C852-AAFB-40FD-978C-C434A3391D46}"/>
              </a:ext>
            </a:extLst>
          </p:cNvPr>
          <p:cNvSpPr>
            <a:spLocks xmlns:a="http://schemas.openxmlformats.org/drawingml/2006/main" noGrp="1"/>
          </p:cNvSpPr>
          <p:nvPr/>
        </p:nvSpPr>
        <p:spPr>
          <a:xfrm xmlns:a="http://schemas.openxmlformats.org/drawingml/2006/main">
            <a:off x="838200" y="2790825"/>
            <a:ext cx="190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92C36"/>
                </a:solidFill>
                <a:latin typeface="Avenir Next"/>
                <a:ea typeface="Avenir Next"/>
                <a:cs typeface="Avenir Next"/>
              </a:defRPr>
            </a:defPPr>
            <a:lvl1pPr algn="l">
              <a:defRPr sz="1425" b="1">
                <a:solidFill>
                  <a:srgbClr val="192C36"/>
                </a:solidFill>
                <a:latin typeface="Avenir Next"/>
                <a:ea typeface="Avenir Next"/>
                <a:cs typeface="Avenir Next"/>
              </a:defRPr>
            </a:lvl1pPr>
            <a:lvl2pPr algn="l">
              <a:defRPr sz="1425" b="1">
                <a:solidFill>
                  <a:srgbClr val="192C36"/>
                </a:solidFill>
                <a:latin typeface="Avenir Next"/>
                <a:ea typeface="Avenir Next"/>
                <a:cs typeface="Avenir Next"/>
              </a:defRPr>
            </a:lvl2pPr>
            <a:lvl3pPr algn="l">
              <a:defRPr sz="1425" b="1">
                <a:solidFill>
                  <a:srgbClr val="192C36"/>
                </a:solidFill>
                <a:latin typeface="Avenir Next"/>
                <a:ea typeface="Avenir Next"/>
                <a:cs typeface="Avenir Next"/>
              </a:defRPr>
            </a:lvl3pPr>
            <a:lvl4pPr algn="l">
              <a:defRPr sz="1425" b="1">
                <a:solidFill>
                  <a:srgbClr val="192C36"/>
                </a:solidFill>
                <a:latin typeface="Avenir Next"/>
                <a:ea typeface="Avenir Next"/>
                <a:cs typeface="Avenir Next"/>
              </a:defRPr>
            </a:lvl4pPr>
            <a:lvl5pPr algn="l">
              <a:defRPr sz="1425" b="1">
                <a:solidFill>
                  <a:srgbClr val="192C36"/>
                </a:solidFill>
                <a:latin typeface="Avenir Next"/>
                <a:ea typeface="Avenir Next"/>
                <a:cs typeface="Avenir Next"/>
              </a:defRPr>
            </a:lvl5pPr>
            <a:lvl6pPr algn="l">
              <a:defRPr sz="1425" b="1">
                <a:solidFill>
                  <a:srgbClr val="192C36"/>
                </a:solidFill>
                <a:latin typeface="Avenir Next"/>
                <a:ea typeface="Avenir Next"/>
                <a:cs typeface="Avenir Next"/>
              </a:defRPr>
            </a:lvl6pPr>
            <a:lvl7pPr algn="l">
              <a:defRPr sz="1425" b="1">
                <a:solidFill>
                  <a:srgbClr val="192C36"/>
                </a:solidFill>
                <a:latin typeface="Avenir Next"/>
                <a:ea typeface="Avenir Next"/>
                <a:cs typeface="Avenir Next"/>
              </a:defRPr>
            </a:lvl7pPr>
            <a:lvl8pPr algn="l">
              <a:defRPr sz="1425" b="1">
                <a:solidFill>
                  <a:srgbClr val="192C36"/>
                </a:solidFill>
                <a:latin typeface="Avenir Next"/>
                <a:ea typeface="Avenir Next"/>
                <a:cs typeface="Avenir Next"/>
              </a:defRPr>
            </a:lvl8pPr>
            <a:lvl9pPr algn="l">
              <a:defRPr sz="1425" b="1">
                <a:solidFill>
                  <a:srgbClr val="192C36"/>
                </a:solidFill>
                <a:latin typeface="Avenir Next"/>
                <a:ea typeface="Avenir Next"/>
                <a:cs typeface="Avenir Next"/>
              </a:defRPr>
            </a:lvl9pPr>
          </a:lstStyle>
          <a:p xmlns:a="http://schemas.openxmlformats.org/drawingml/2006/main">
            <a:pPr algn="l">
              <a:defRPr sz="1425" b="1">
                <a:solidFill>
                  <a:srgbClr val="192C36"/>
                </a:solidFill>
                <a:latin typeface="Avenir Next"/>
                <a:ea typeface="Avenir Next"/>
                <a:cs typeface="Avenir Next"/>
              </a:defRPr>
            </a:pPr>
            <a:r>
              <a:rPr sz="1425" b="1">
                <a:solidFill>
                  <a:srgbClr val="192C36"/>
                </a:solidFill>
                <a:latin typeface="Avenir Next"/>
                <a:ea typeface="Avenir Next"/>
                <a:cs typeface="Avenir Next"/>
              </a:rPr>
              <a:t>TRANSFER +</a:t>
            </a:r>
          </a:p>
          <a:p xmlns:a="http://schemas.openxmlformats.org/drawingml/2006/main">
            <a:pPr algn="l">
              <a:defRPr sz="1425" b="1">
                <a:solidFill>
                  <a:srgbClr val="192C36"/>
                </a:solidFill>
                <a:latin typeface="Avenir Next"/>
                <a:ea typeface="Avenir Next"/>
                <a:cs typeface="Avenir Next"/>
              </a:defRPr>
            </a:pPr>
            <a:r>
              <a:rPr sz="1425" b="1">
                <a:solidFill>
                  <a:srgbClr val="192C36"/>
                </a:solidFill>
                <a:latin typeface="Avenir Next"/>
                <a:ea typeface="Avenir Next"/>
                <a:cs typeface="Avenir Next"/>
              </a:rPr>
              <a:t>SESSION SIGNALS</a:t>
            </a:r>
          </a:p>
        </p:txBody>
      </p:sp>
      <p:sp>
        <p:nvSpPr>
          <p:cNvPr id="14" name="">
            <a:extLst xmlns:a="http://schemas.openxmlformats.org/drawingml/2006/main">
              <a:ext uri="{FF2B5EF4-FFF2-40B4-BE49-F238E27FC236}">
                <a16:creationId xmlns:a16="http://schemas.microsoft.com/office/drawing/2014/main" id="{0A675DB9-BAF1-4198-9E09-022C42E99D5F}"/>
              </a:ext>
            </a:extLst>
          </p:cNvPr>
          <p:cNvSpPr>
            <a:spLocks xmlns:a="http://schemas.openxmlformats.org/drawingml/2006/main" noGrp="1"/>
          </p:cNvSpPr>
          <p:nvPr/>
        </p:nvSpPr>
        <p:spPr>
          <a:xfrm xmlns:a="http://schemas.openxmlformats.org/drawingml/2006/main">
            <a:off x="838200" y="3486150"/>
            <a:ext cx="1905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E6F75"/>
                </a:solidFill>
                <a:latin typeface="Avenir Next"/>
                <a:ea typeface="Avenir Next"/>
                <a:cs typeface="Avenir Next"/>
              </a:defRPr>
            </a:defPPr>
            <a:lvl1pPr algn="l">
              <a:defRPr sz="1200" b="0">
                <a:solidFill>
                  <a:srgbClr val="5E6F75"/>
                </a:solidFill>
                <a:latin typeface="Avenir Next"/>
                <a:ea typeface="Avenir Next"/>
                <a:cs typeface="Avenir Next"/>
              </a:defRPr>
            </a:lvl1pPr>
            <a:lvl2pPr algn="l">
              <a:defRPr sz="1200" b="0">
                <a:solidFill>
                  <a:srgbClr val="5E6F75"/>
                </a:solidFill>
                <a:latin typeface="Avenir Next"/>
                <a:ea typeface="Avenir Next"/>
                <a:cs typeface="Avenir Next"/>
              </a:defRPr>
            </a:lvl2pPr>
            <a:lvl3pPr algn="l">
              <a:defRPr sz="1200" b="0">
                <a:solidFill>
                  <a:srgbClr val="5E6F75"/>
                </a:solidFill>
                <a:latin typeface="Avenir Next"/>
                <a:ea typeface="Avenir Next"/>
                <a:cs typeface="Avenir Next"/>
              </a:defRPr>
            </a:lvl3pPr>
            <a:lvl4pPr algn="l">
              <a:defRPr sz="1200" b="0">
                <a:solidFill>
                  <a:srgbClr val="5E6F75"/>
                </a:solidFill>
                <a:latin typeface="Avenir Next"/>
                <a:ea typeface="Avenir Next"/>
                <a:cs typeface="Avenir Next"/>
              </a:defRPr>
            </a:lvl4pPr>
            <a:lvl5pPr algn="l">
              <a:defRPr sz="1200" b="0">
                <a:solidFill>
                  <a:srgbClr val="5E6F75"/>
                </a:solidFill>
                <a:latin typeface="Avenir Next"/>
                <a:ea typeface="Avenir Next"/>
                <a:cs typeface="Avenir Next"/>
              </a:defRPr>
            </a:lvl5pPr>
            <a:lvl6pPr algn="l">
              <a:defRPr sz="1200" b="0">
                <a:solidFill>
                  <a:srgbClr val="5E6F75"/>
                </a:solidFill>
                <a:latin typeface="Avenir Next"/>
                <a:ea typeface="Avenir Next"/>
                <a:cs typeface="Avenir Next"/>
              </a:defRPr>
            </a:lvl6pPr>
            <a:lvl7pPr algn="l">
              <a:defRPr sz="1200" b="0">
                <a:solidFill>
                  <a:srgbClr val="5E6F75"/>
                </a:solidFill>
                <a:latin typeface="Avenir Next"/>
                <a:ea typeface="Avenir Next"/>
                <a:cs typeface="Avenir Next"/>
              </a:defRPr>
            </a:lvl7pPr>
            <a:lvl8pPr algn="l">
              <a:defRPr sz="1200" b="0">
                <a:solidFill>
                  <a:srgbClr val="5E6F75"/>
                </a:solidFill>
                <a:latin typeface="Avenir Next"/>
                <a:ea typeface="Avenir Next"/>
                <a:cs typeface="Avenir Next"/>
              </a:defRPr>
            </a:lvl8pPr>
            <a:lvl9pPr algn="l">
              <a:defRPr sz="1200" b="0">
                <a:solidFill>
                  <a:srgbClr val="5E6F75"/>
                </a:solidFill>
                <a:latin typeface="Avenir Next"/>
                <a:ea typeface="Avenir Next"/>
                <a:cs typeface="Avenir Next"/>
              </a:defRPr>
            </a:lvl9pPr>
          </a:lstStyle>
          <a:p xmlns:a="http://schemas.openxmlformats.org/drawingml/2006/main">
            <a:pPr algn="l">
              <a:defRPr sz="1200" b="0">
                <a:solidFill>
                  <a:srgbClr val="5E6F75"/>
                </a:solidFill>
                <a:latin typeface="Avenir Next"/>
                <a:ea typeface="Avenir Next"/>
                <a:cs typeface="Avenir Next"/>
              </a:defRPr>
            </a:pPr>
            <a:r>
              <a:rPr sz="1200" b="0">
                <a:solidFill>
                  <a:srgbClr val="5E6F75"/>
                </a:solidFill>
                <a:latin typeface="Avenir Next"/>
                <a:ea typeface="Avenir Next"/>
                <a:cs typeface="Avenir Next"/>
              </a:rPr>
              <a:t>Amount and balance</a:t>
            </a:r>
          </a:p>
          <a:p xmlns:a="http://schemas.openxmlformats.org/drawingml/2006/main">
            <a:pPr algn="l">
              <a:defRPr sz="1200" b="0">
                <a:solidFill>
                  <a:srgbClr val="5E6F75"/>
                </a:solidFill>
                <a:latin typeface="Avenir Next"/>
                <a:ea typeface="Avenir Next"/>
                <a:cs typeface="Avenir Next"/>
              </a:defRPr>
            </a:pPr>
            <a:r>
              <a:rPr sz="1200" b="0">
                <a:solidFill>
                  <a:srgbClr val="5E6F75"/>
                </a:solidFill>
                <a:latin typeface="Avenir Next"/>
                <a:ea typeface="Avenir Next"/>
                <a:cs typeface="Avenir Next"/>
              </a:rPr>
              <a:t>Payee history</a:t>
            </a:r>
          </a:p>
          <a:p xmlns:a="http://schemas.openxmlformats.org/drawingml/2006/main">
            <a:pPr algn="l">
              <a:defRPr sz="1200" b="0">
                <a:solidFill>
                  <a:srgbClr val="5E6F75"/>
                </a:solidFill>
                <a:latin typeface="Avenir Next"/>
                <a:ea typeface="Avenir Next"/>
                <a:cs typeface="Avenir Next"/>
              </a:defRPr>
            </a:pPr>
            <a:r>
              <a:rPr sz="1200" b="0">
                <a:solidFill>
                  <a:srgbClr val="5E6F75"/>
                </a:solidFill>
                <a:latin typeface="Avenir Next"/>
                <a:ea typeface="Avenir Next"/>
                <a:cs typeface="Avenir Next"/>
              </a:rPr>
              <a:t>Entry behaviour</a:t>
            </a:r>
          </a:p>
        </p:txBody>
      </p:sp>
      <p:sp>
        <p:nvSpPr>
          <p:cNvPr id="15" name="">
            <a:extLst xmlns:a="http://schemas.openxmlformats.org/drawingml/2006/main">
              <a:ext uri="{FF2B5EF4-FFF2-40B4-BE49-F238E27FC236}">
                <a16:creationId xmlns:a16="http://schemas.microsoft.com/office/drawing/2014/main" id="{543FF614-F0F9-419D-8F74-C5FB447C4B67}"/>
              </a:ext>
            </a:extLst>
          </p:cNvPr>
          <p:cNvSpPr>
            <a:spLocks xmlns:a="http://schemas.openxmlformats.org/drawingml/2006/main" noGrp="1"/>
          </p:cNvSpPr>
          <p:nvPr/>
        </p:nvSpPr>
        <p:spPr>
          <a:xfrm xmlns:a="http://schemas.openxmlformats.org/drawingml/2006/main">
            <a:off x="3943350" y="275272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1D716F"/>
                </a:solidFill>
                <a:latin typeface="Avenir Next"/>
                <a:ea typeface="Avenir Next"/>
                <a:cs typeface="Avenir Next"/>
              </a:defRPr>
            </a:defPPr>
            <a:lvl1pPr algn="l">
              <a:defRPr sz="1125" b="1">
                <a:solidFill>
                  <a:srgbClr val="1D716F"/>
                </a:solidFill>
                <a:latin typeface="Avenir Next"/>
                <a:ea typeface="Avenir Next"/>
                <a:cs typeface="Avenir Next"/>
              </a:defRPr>
            </a:lvl1pPr>
            <a:lvl2pPr algn="l">
              <a:defRPr sz="1125" b="1">
                <a:solidFill>
                  <a:srgbClr val="1D716F"/>
                </a:solidFill>
                <a:latin typeface="Avenir Next"/>
                <a:ea typeface="Avenir Next"/>
                <a:cs typeface="Avenir Next"/>
              </a:defRPr>
            </a:lvl2pPr>
            <a:lvl3pPr algn="l">
              <a:defRPr sz="1125" b="1">
                <a:solidFill>
                  <a:srgbClr val="1D716F"/>
                </a:solidFill>
                <a:latin typeface="Avenir Next"/>
                <a:ea typeface="Avenir Next"/>
                <a:cs typeface="Avenir Next"/>
              </a:defRPr>
            </a:lvl3pPr>
            <a:lvl4pPr algn="l">
              <a:defRPr sz="1125" b="1">
                <a:solidFill>
                  <a:srgbClr val="1D716F"/>
                </a:solidFill>
                <a:latin typeface="Avenir Next"/>
                <a:ea typeface="Avenir Next"/>
                <a:cs typeface="Avenir Next"/>
              </a:defRPr>
            </a:lvl4pPr>
            <a:lvl5pPr algn="l">
              <a:defRPr sz="1125" b="1">
                <a:solidFill>
                  <a:srgbClr val="1D716F"/>
                </a:solidFill>
                <a:latin typeface="Avenir Next"/>
                <a:ea typeface="Avenir Next"/>
                <a:cs typeface="Avenir Next"/>
              </a:defRPr>
            </a:lvl5pPr>
            <a:lvl6pPr algn="l">
              <a:defRPr sz="1125" b="1">
                <a:solidFill>
                  <a:srgbClr val="1D716F"/>
                </a:solidFill>
                <a:latin typeface="Avenir Next"/>
                <a:ea typeface="Avenir Next"/>
                <a:cs typeface="Avenir Next"/>
              </a:defRPr>
            </a:lvl6pPr>
            <a:lvl7pPr algn="l">
              <a:defRPr sz="1125" b="1">
                <a:solidFill>
                  <a:srgbClr val="1D716F"/>
                </a:solidFill>
                <a:latin typeface="Avenir Next"/>
                <a:ea typeface="Avenir Next"/>
                <a:cs typeface="Avenir Next"/>
              </a:defRPr>
            </a:lvl7pPr>
            <a:lvl8pPr algn="l">
              <a:defRPr sz="1125" b="1">
                <a:solidFill>
                  <a:srgbClr val="1D716F"/>
                </a:solidFill>
                <a:latin typeface="Avenir Next"/>
                <a:ea typeface="Avenir Next"/>
                <a:cs typeface="Avenir Next"/>
              </a:defRPr>
            </a:lvl8pPr>
            <a:lvl9pPr algn="l">
              <a:defRPr sz="1125" b="1">
                <a:solidFill>
                  <a:srgbClr val="1D716F"/>
                </a:solidFill>
                <a:latin typeface="Avenir Next"/>
                <a:ea typeface="Avenir Next"/>
                <a:cs typeface="Avenir Next"/>
              </a:defRPr>
            </a:lvl9pPr>
          </a:lstStyle>
          <a:p xmlns:a="http://schemas.openxmlformats.org/drawingml/2006/main">
            <a:pPr algn="l">
              <a:defRPr sz="1125" b="1">
                <a:solidFill>
                  <a:srgbClr val="1D716F"/>
                </a:solidFill>
                <a:latin typeface="Avenir Next"/>
                <a:ea typeface="Avenir Next"/>
                <a:cs typeface="Avenir Next"/>
              </a:defRPr>
            </a:pPr>
            <a:r>
              <a:rPr sz="1125" b="1">
                <a:solidFill>
                  <a:srgbClr val="1D716F"/>
                </a:solidFill>
                <a:latin typeface="Avenir Next"/>
                <a:ea typeface="Avenir Next"/>
                <a:cs typeface="Avenir Next"/>
              </a:rPr>
              <a:t>THREE MODEL SIGNALS</a:t>
            </a:r>
          </a:p>
        </p:txBody>
      </p:sp>
      <p:sp>
        <p:nvSpPr>
          <p:cNvPr id="16" name="">
            <a:extLst xmlns:a="http://schemas.openxmlformats.org/drawingml/2006/main">
              <a:ext uri="{FF2B5EF4-FFF2-40B4-BE49-F238E27FC236}">
                <a16:creationId xmlns:a16="http://schemas.microsoft.com/office/drawing/2014/main" id="{DF239835-C57E-450E-ADE6-0DF02CD3FC64}"/>
              </a:ext>
            </a:extLst>
          </p:cNvPr>
          <p:cNvSpPr>
            <a:spLocks xmlns:a="http://schemas.openxmlformats.org/drawingml/2006/main" noGrp="1"/>
          </p:cNvSpPr>
          <p:nvPr/>
        </p:nvSpPr>
        <p:spPr>
          <a:xfrm xmlns:a="http://schemas.openxmlformats.org/drawingml/2006/main">
            <a:off x="3943350" y="32004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92C36"/>
                </a:solidFill>
                <a:latin typeface="Avenir Next"/>
                <a:ea typeface="Avenir Next"/>
                <a:cs typeface="Avenir Next"/>
              </a:defRPr>
            </a:defPPr>
            <a:lvl1pPr algn="l">
              <a:defRPr sz="1425" b="1">
                <a:solidFill>
                  <a:srgbClr val="192C36"/>
                </a:solidFill>
                <a:latin typeface="Avenir Next"/>
                <a:ea typeface="Avenir Next"/>
                <a:cs typeface="Avenir Next"/>
              </a:defRPr>
            </a:lvl1pPr>
            <a:lvl2pPr algn="l">
              <a:defRPr sz="1425" b="1">
                <a:solidFill>
                  <a:srgbClr val="192C36"/>
                </a:solidFill>
                <a:latin typeface="Avenir Next"/>
                <a:ea typeface="Avenir Next"/>
                <a:cs typeface="Avenir Next"/>
              </a:defRPr>
            </a:lvl2pPr>
            <a:lvl3pPr algn="l">
              <a:defRPr sz="1425" b="1">
                <a:solidFill>
                  <a:srgbClr val="192C36"/>
                </a:solidFill>
                <a:latin typeface="Avenir Next"/>
                <a:ea typeface="Avenir Next"/>
                <a:cs typeface="Avenir Next"/>
              </a:defRPr>
            </a:lvl3pPr>
            <a:lvl4pPr algn="l">
              <a:defRPr sz="1425" b="1">
                <a:solidFill>
                  <a:srgbClr val="192C36"/>
                </a:solidFill>
                <a:latin typeface="Avenir Next"/>
                <a:ea typeface="Avenir Next"/>
                <a:cs typeface="Avenir Next"/>
              </a:defRPr>
            </a:lvl4pPr>
            <a:lvl5pPr algn="l">
              <a:defRPr sz="1425" b="1">
                <a:solidFill>
                  <a:srgbClr val="192C36"/>
                </a:solidFill>
                <a:latin typeface="Avenir Next"/>
                <a:ea typeface="Avenir Next"/>
                <a:cs typeface="Avenir Next"/>
              </a:defRPr>
            </a:lvl5pPr>
            <a:lvl6pPr algn="l">
              <a:defRPr sz="1425" b="1">
                <a:solidFill>
                  <a:srgbClr val="192C36"/>
                </a:solidFill>
                <a:latin typeface="Avenir Next"/>
                <a:ea typeface="Avenir Next"/>
                <a:cs typeface="Avenir Next"/>
              </a:defRPr>
            </a:lvl6pPr>
            <a:lvl7pPr algn="l">
              <a:defRPr sz="1425" b="1">
                <a:solidFill>
                  <a:srgbClr val="192C36"/>
                </a:solidFill>
                <a:latin typeface="Avenir Next"/>
                <a:ea typeface="Avenir Next"/>
                <a:cs typeface="Avenir Next"/>
              </a:defRPr>
            </a:lvl7pPr>
            <a:lvl8pPr algn="l">
              <a:defRPr sz="1425" b="1">
                <a:solidFill>
                  <a:srgbClr val="192C36"/>
                </a:solidFill>
                <a:latin typeface="Avenir Next"/>
                <a:ea typeface="Avenir Next"/>
                <a:cs typeface="Avenir Next"/>
              </a:defRPr>
            </a:lvl8pPr>
            <a:lvl9pPr algn="l">
              <a:defRPr sz="1425" b="1">
                <a:solidFill>
                  <a:srgbClr val="192C36"/>
                </a:solidFill>
                <a:latin typeface="Avenir Next"/>
                <a:ea typeface="Avenir Next"/>
                <a:cs typeface="Avenir Next"/>
              </a:defRPr>
            </a:lvl9pPr>
          </a:lstStyle>
          <a:p xmlns:a="http://schemas.openxmlformats.org/drawingml/2006/main">
            <a:pPr algn="l">
              <a:defRPr sz="1425" b="1">
                <a:solidFill>
                  <a:srgbClr val="192C36"/>
                </a:solidFill>
                <a:latin typeface="Avenir Next"/>
                <a:ea typeface="Avenir Next"/>
                <a:cs typeface="Avenir Next"/>
              </a:defRPr>
            </a:pPr>
            <a:r>
              <a:rPr sz="1425" b="1">
                <a:solidFill>
                  <a:srgbClr val="192C36"/>
                </a:solidFill>
                <a:latin typeface="Avenir Next"/>
                <a:ea typeface="Avenir Next"/>
                <a:cs typeface="Avenir Next"/>
              </a:rPr>
              <a:t>M1  Transfer risk</a:t>
            </a:r>
          </a:p>
        </p:txBody>
      </p:sp>
      <p:sp>
        <p:nvSpPr>
          <p:cNvPr id="17" name="">
            <a:extLst xmlns:a="http://schemas.openxmlformats.org/drawingml/2006/main">
              <a:ext uri="{FF2B5EF4-FFF2-40B4-BE49-F238E27FC236}">
                <a16:creationId xmlns:a16="http://schemas.microsoft.com/office/drawing/2014/main" id="{1999E63B-8900-4B88-A27D-7D36CCBAEC84}"/>
              </a:ext>
            </a:extLst>
          </p:cNvPr>
          <p:cNvSpPr>
            <a:spLocks xmlns:a="http://schemas.openxmlformats.org/drawingml/2006/main" noGrp="1"/>
          </p:cNvSpPr>
          <p:nvPr/>
        </p:nvSpPr>
        <p:spPr>
          <a:xfrm xmlns:a="http://schemas.openxmlformats.org/drawingml/2006/main">
            <a:off x="3943350" y="35909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192C36"/>
                </a:solidFill>
                <a:latin typeface="Avenir Next"/>
                <a:ea typeface="Avenir Next"/>
                <a:cs typeface="Avenir Next"/>
              </a:defRPr>
            </a:defPPr>
            <a:lvl1pPr algn="l">
              <a:defRPr sz="1425" b="1">
                <a:solidFill>
                  <a:srgbClr val="192C36"/>
                </a:solidFill>
                <a:latin typeface="Avenir Next"/>
                <a:ea typeface="Avenir Next"/>
                <a:cs typeface="Avenir Next"/>
              </a:defRPr>
            </a:lvl1pPr>
            <a:lvl2pPr algn="l">
              <a:defRPr sz="1425" b="1">
                <a:solidFill>
                  <a:srgbClr val="192C36"/>
                </a:solidFill>
                <a:latin typeface="Avenir Next"/>
                <a:ea typeface="Avenir Next"/>
                <a:cs typeface="Avenir Next"/>
              </a:defRPr>
            </a:lvl2pPr>
            <a:lvl3pPr algn="l">
              <a:defRPr sz="1425" b="1">
                <a:solidFill>
                  <a:srgbClr val="192C36"/>
                </a:solidFill>
                <a:latin typeface="Avenir Next"/>
                <a:ea typeface="Avenir Next"/>
                <a:cs typeface="Avenir Next"/>
              </a:defRPr>
            </a:lvl3pPr>
            <a:lvl4pPr algn="l">
              <a:defRPr sz="1425" b="1">
                <a:solidFill>
                  <a:srgbClr val="192C36"/>
                </a:solidFill>
                <a:latin typeface="Avenir Next"/>
                <a:ea typeface="Avenir Next"/>
                <a:cs typeface="Avenir Next"/>
              </a:defRPr>
            </a:lvl4pPr>
            <a:lvl5pPr algn="l">
              <a:defRPr sz="1425" b="1">
                <a:solidFill>
                  <a:srgbClr val="192C36"/>
                </a:solidFill>
                <a:latin typeface="Avenir Next"/>
                <a:ea typeface="Avenir Next"/>
                <a:cs typeface="Avenir Next"/>
              </a:defRPr>
            </a:lvl5pPr>
            <a:lvl6pPr algn="l">
              <a:defRPr sz="1425" b="1">
                <a:solidFill>
                  <a:srgbClr val="192C36"/>
                </a:solidFill>
                <a:latin typeface="Avenir Next"/>
                <a:ea typeface="Avenir Next"/>
                <a:cs typeface="Avenir Next"/>
              </a:defRPr>
            </a:lvl6pPr>
            <a:lvl7pPr algn="l">
              <a:defRPr sz="1425" b="1">
                <a:solidFill>
                  <a:srgbClr val="192C36"/>
                </a:solidFill>
                <a:latin typeface="Avenir Next"/>
                <a:ea typeface="Avenir Next"/>
                <a:cs typeface="Avenir Next"/>
              </a:defRPr>
            </a:lvl7pPr>
            <a:lvl8pPr algn="l">
              <a:defRPr sz="1425" b="1">
                <a:solidFill>
                  <a:srgbClr val="192C36"/>
                </a:solidFill>
                <a:latin typeface="Avenir Next"/>
                <a:ea typeface="Avenir Next"/>
                <a:cs typeface="Avenir Next"/>
              </a:defRPr>
            </a:lvl8pPr>
            <a:lvl9pPr algn="l">
              <a:defRPr sz="1425" b="1">
                <a:solidFill>
                  <a:srgbClr val="192C36"/>
                </a:solidFill>
                <a:latin typeface="Avenir Next"/>
                <a:ea typeface="Avenir Next"/>
                <a:cs typeface="Avenir Next"/>
              </a:defRPr>
            </a:lvl9pPr>
          </a:lstStyle>
          <a:p xmlns:a="http://schemas.openxmlformats.org/drawingml/2006/main">
            <a:pPr algn="l">
              <a:defRPr sz="1425" b="1">
                <a:solidFill>
                  <a:srgbClr val="192C36"/>
                </a:solidFill>
                <a:latin typeface="Avenir Next"/>
                <a:ea typeface="Avenir Next"/>
                <a:cs typeface="Avenir Next"/>
              </a:defRPr>
            </a:pPr>
            <a:r>
              <a:rPr sz="1425" b="1">
                <a:solidFill>
                  <a:srgbClr val="192C36"/>
                </a:solidFill>
                <a:latin typeface="Avenir Next"/>
                <a:ea typeface="Avenir Next"/>
                <a:cs typeface="Avenir Next"/>
              </a:rPr>
              <a:t>M2  Scam type</a:t>
            </a:r>
          </a:p>
        </p:txBody>
      </p:sp>
      <p:sp>
        <p:nvSpPr>
          <p:cNvPr id="18" name="">
            <a:extLst xmlns:a="http://schemas.openxmlformats.org/drawingml/2006/main">
              <a:ext uri="{FF2B5EF4-FFF2-40B4-BE49-F238E27FC236}">
                <a16:creationId xmlns:a16="http://schemas.microsoft.com/office/drawing/2014/main" id="{0A0A2A81-3DFD-4B03-B65B-FE21D7A054A8}"/>
              </a:ext>
            </a:extLst>
          </p:cNvPr>
          <p:cNvSpPr>
            <a:spLocks xmlns:a="http://schemas.openxmlformats.org/drawingml/2006/main" noGrp="1"/>
          </p:cNvSpPr>
          <p:nvPr/>
        </p:nvSpPr>
        <p:spPr>
          <a:xfrm xmlns:a="http://schemas.openxmlformats.org/drawingml/2006/main">
            <a:off x="3943350" y="39814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92C36"/>
                </a:solidFill>
                <a:latin typeface="Avenir Next"/>
                <a:ea typeface="Avenir Next"/>
                <a:cs typeface="Avenir Next"/>
              </a:defRPr>
            </a:defPPr>
            <a:lvl1pPr algn="l">
              <a:defRPr sz="1350" b="1">
                <a:solidFill>
                  <a:srgbClr val="192C36"/>
                </a:solidFill>
                <a:latin typeface="Avenir Next"/>
                <a:ea typeface="Avenir Next"/>
                <a:cs typeface="Avenir Next"/>
              </a:defRPr>
            </a:lvl1pPr>
            <a:lvl2pPr algn="l">
              <a:defRPr sz="1350" b="1">
                <a:solidFill>
                  <a:srgbClr val="192C36"/>
                </a:solidFill>
                <a:latin typeface="Avenir Next"/>
                <a:ea typeface="Avenir Next"/>
                <a:cs typeface="Avenir Next"/>
              </a:defRPr>
            </a:lvl2pPr>
            <a:lvl3pPr algn="l">
              <a:defRPr sz="1350" b="1">
                <a:solidFill>
                  <a:srgbClr val="192C36"/>
                </a:solidFill>
                <a:latin typeface="Avenir Next"/>
                <a:ea typeface="Avenir Next"/>
                <a:cs typeface="Avenir Next"/>
              </a:defRPr>
            </a:lvl3pPr>
            <a:lvl4pPr algn="l">
              <a:defRPr sz="1350" b="1">
                <a:solidFill>
                  <a:srgbClr val="192C36"/>
                </a:solidFill>
                <a:latin typeface="Avenir Next"/>
                <a:ea typeface="Avenir Next"/>
                <a:cs typeface="Avenir Next"/>
              </a:defRPr>
            </a:lvl4pPr>
            <a:lvl5pPr algn="l">
              <a:defRPr sz="1350" b="1">
                <a:solidFill>
                  <a:srgbClr val="192C36"/>
                </a:solidFill>
                <a:latin typeface="Avenir Next"/>
                <a:ea typeface="Avenir Next"/>
                <a:cs typeface="Avenir Next"/>
              </a:defRPr>
            </a:lvl5pPr>
            <a:lvl6pPr algn="l">
              <a:defRPr sz="1350" b="1">
                <a:solidFill>
                  <a:srgbClr val="192C36"/>
                </a:solidFill>
                <a:latin typeface="Avenir Next"/>
                <a:ea typeface="Avenir Next"/>
                <a:cs typeface="Avenir Next"/>
              </a:defRPr>
            </a:lvl6pPr>
            <a:lvl7pPr algn="l">
              <a:defRPr sz="1350" b="1">
                <a:solidFill>
                  <a:srgbClr val="192C36"/>
                </a:solidFill>
                <a:latin typeface="Avenir Next"/>
                <a:ea typeface="Avenir Next"/>
                <a:cs typeface="Avenir Next"/>
              </a:defRPr>
            </a:lvl7pPr>
            <a:lvl8pPr algn="l">
              <a:defRPr sz="1350" b="1">
                <a:solidFill>
                  <a:srgbClr val="192C36"/>
                </a:solidFill>
                <a:latin typeface="Avenir Next"/>
                <a:ea typeface="Avenir Next"/>
                <a:cs typeface="Avenir Next"/>
              </a:defRPr>
            </a:lvl8pPr>
            <a:lvl9pPr algn="l">
              <a:defRPr sz="1350" b="1">
                <a:solidFill>
                  <a:srgbClr val="192C36"/>
                </a:solidFill>
                <a:latin typeface="Avenir Next"/>
                <a:ea typeface="Avenir Next"/>
                <a:cs typeface="Avenir Next"/>
              </a:defRPr>
            </a:lvl9pPr>
          </a:lstStyle>
          <a:p xmlns:a="http://schemas.openxmlformats.org/drawingml/2006/main">
            <a:pPr algn="l">
              <a:defRPr sz="1350" b="1">
                <a:solidFill>
                  <a:srgbClr val="192C36"/>
                </a:solidFill>
                <a:latin typeface="Avenir Next"/>
                <a:ea typeface="Avenir Next"/>
                <a:cs typeface="Avenir Next"/>
              </a:defRPr>
            </a:pPr>
            <a:r>
              <a:rPr sz="1350" b="1">
                <a:solidFill>
                  <a:srgbClr val="192C36"/>
                </a:solidFill>
                <a:latin typeface="Avenir Next"/>
                <a:ea typeface="Avenir Next"/>
                <a:cs typeface="Avenir Next"/>
              </a:rPr>
              <a:t>M3  Receiver mule score</a:t>
            </a:r>
          </a:p>
        </p:txBody>
      </p:sp>
      <p:sp>
        <p:nvSpPr>
          <p:cNvPr id="19" name="">
            <a:extLst xmlns:a="http://schemas.openxmlformats.org/drawingml/2006/main">
              <a:ext uri="{FF2B5EF4-FFF2-40B4-BE49-F238E27FC236}">
                <a16:creationId xmlns:a16="http://schemas.microsoft.com/office/drawing/2014/main" id="{76B634D7-B086-4A9C-B779-DD91E71A6E2A}"/>
              </a:ext>
            </a:extLst>
          </p:cNvPr>
          <p:cNvSpPr>
            <a:spLocks xmlns:a="http://schemas.openxmlformats.org/drawingml/2006/main" noGrp="1"/>
          </p:cNvSpPr>
          <p:nvPr/>
        </p:nvSpPr>
        <p:spPr>
          <a:xfrm xmlns:a="http://schemas.openxmlformats.org/drawingml/2006/main">
            <a:off x="7515225" y="2828925"/>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1">
                <a:solidFill>
                  <a:srgbClr val="B4553C"/>
                </a:solidFill>
                <a:latin typeface="Avenir Next"/>
                <a:ea typeface="Avenir Next"/>
                <a:cs typeface="Avenir Next"/>
              </a:defRPr>
            </a:defPPr>
            <a:lvl1pPr algn="l">
              <a:defRPr sz="1275" b="1">
                <a:solidFill>
                  <a:srgbClr val="B4553C"/>
                </a:solidFill>
                <a:latin typeface="Avenir Next"/>
                <a:ea typeface="Avenir Next"/>
                <a:cs typeface="Avenir Next"/>
              </a:defRPr>
            </a:lvl1pPr>
            <a:lvl2pPr algn="l">
              <a:defRPr sz="1275" b="1">
                <a:solidFill>
                  <a:srgbClr val="B4553C"/>
                </a:solidFill>
                <a:latin typeface="Avenir Next"/>
                <a:ea typeface="Avenir Next"/>
                <a:cs typeface="Avenir Next"/>
              </a:defRPr>
            </a:lvl2pPr>
            <a:lvl3pPr algn="l">
              <a:defRPr sz="1275" b="1">
                <a:solidFill>
                  <a:srgbClr val="B4553C"/>
                </a:solidFill>
                <a:latin typeface="Avenir Next"/>
                <a:ea typeface="Avenir Next"/>
                <a:cs typeface="Avenir Next"/>
              </a:defRPr>
            </a:lvl3pPr>
            <a:lvl4pPr algn="l">
              <a:defRPr sz="1275" b="1">
                <a:solidFill>
                  <a:srgbClr val="B4553C"/>
                </a:solidFill>
                <a:latin typeface="Avenir Next"/>
                <a:ea typeface="Avenir Next"/>
                <a:cs typeface="Avenir Next"/>
              </a:defRPr>
            </a:lvl4pPr>
            <a:lvl5pPr algn="l">
              <a:defRPr sz="1275" b="1">
                <a:solidFill>
                  <a:srgbClr val="B4553C"/>
                </a:solidFill>
                <a:latin typeface="Avenir Next"/>
                <a:ea typeface="Avenir Next"/>
                <a:cs typeface="Avenir Next"/>
              </a:defRPr>
            </a:lvl5pPr>
            <a:lvl6pPr algn="l">
              <a:defRPr sz="1275" b="1">
                <a:solidFill>
                  <a:srgbClr val="B4553C"/>
                </a:solidFill>
                <a:latin typeface="Avenir Next"/>
                <a:ea typeface="Avenir Next"/>
                <a:cs typeface="Avenir Next"/>
              </a:defRPr>
            </a:lvl6pPr>
            <a:lvl7pPr algn="l">
              <a:defRPr sz="1275" b="1">
                <a:solidFill>
                  <a:srgbClr val="B4553C"/>
                </a:solidFill>
                <a:latin typeface="Avenir Next"/>
                <a:ea typeface="Avenir Next"/>
                <a:cs typeface="Avenir Next"/>
              </a:defRPr>
            </a:lvl7pPr>
            <a:lvl8pPr algn="l">
              <a:defRPr sz="1275" b="1">
                <a:solidFill>
                  <a:srgbClr val="B4553C"/>
                </a:solidFill>
                <a:latin typeface="Avenir Next"/>
                <a:ea typeface="Avenir Next"/>
                <a:cs typeface="Avenir Next"/>
              </a:defRPr>
            </a:lvl8pPr>
            <a:lvl9pPr algn="l">
              <a:defRPr sz="1275" b="1">
                <a:solidFill>
                  <a:srgbClr val="B4553C"/>
                </a:solidFill>
                <a:latin typeface="Avenir Next"/>
                <a:ea typeface="Avenir Next"/>
                <a:cs typeface="Avenir Next"/>
              </a:defRPr>
            </a:lvl9pPr>
          </a:lstStyle>
          <a:p xmlns:a="http://schemas.openxmlformats.org/drawingml/2006/main">
            <a:pPr algn="l">
              <a:defRPr sz="1275" b="1">
                <a:solidFill>
                  <a:srgbClr val="B4553C"/>
                </a:solidFill>
                <a:latin typeface="Avenir Next"/>
                <a:ea typeface="Avenir Next"/>
                <a:cs typeface="Avenir Next"/>
              </a:defRPr>
            </a:pPr>
            <a:r>
              <a:rPr sz="1275" b="1">
                <a:solidFill>
                  <a:srgbClr val="B4553C"/>
                </a:solidFill>
                <a:latin typeface="Avenir Next"/>
                <a:ea typeface="Avenir Next"/>
                <a:cs typeface="Avenir Next"/>
              </a:rPr>
              <a:t>POLICY</a:t>
            </a:r>
          </a:p>
        </p:txBody>
      </p:sp>
      <p:sp>
        <p:nvSpPr>
          <p:cNvPr id="20" name="">
            <a:extLst xmlns:a="http://schemas.openxmlformats.org/drawingml/2006/main">
              <a:ext uri="{FF2B5EF4-FFF2-40B4-BE49-F238E27FC236}">
                <a16:creationId xmlns:a16="http://schemas.microsoft.com/office/drawing/2014/main" id="{745382CD-283A-4E32-897C-04DDEE27067E}"/>
              </a:ext>
            </a:extLst>
          </p:cNvPr>
          <p:cNvSpPr>
            <a:spLocks xmlns:a="http://schemas.openxmlformats.org/drawingml/2006/main" noGrp="1"/>
          </p:cNvSpPr>
          <p:nvPr/>
        </p:nvSpPr>
        <p:spPr>
          <a:xfrm xmlns:a="http://schemas.openxmlformats.org/drawingml/2006/main">
            <a:off x="7515225" y="3343275"/>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192C36"/>
                </a:solidFill>
                <a:latin typeface="Avenir Next"/>
                <a:ea typeface="Avenir Next"/>
                <a:cs typeface="Avenir Next"/>
              </a:defRPr>
            </a:defPPr>
            <a:lvl1pPr algn="l">
              <a:defRPr sz="1275" b="0">
                <a:solidFill>
                  <a:srgbClr val="192C36"/>
                </a:solidFill>
                <a:latin typeface="Avenir Next"/>
                <a:ea typeface="Avenir Next"/>
                <a:cs typeface="Avenir Next"/>
              </a:defRPr>
            </a:lvl1pPr>
            <a:lvl2pPr algn="l">
              <a:defRPr sz="1275" b="0">
                <a:solidFill>
                  <a:srgbClr val="192C36"/>
                </a:solidFill>
                <a:latin typeface="Avenir Next"/>
                <a:ea typeface="Avenir Next"/>
                <a:cs typeface="Avenir Next"/>
              </a:defRPr>
            </a:lvl2pPr>
            <a:lvl3pPr algn="l">
              <a:defRPr sz="1275" b="0">
                <a:solidFill>
                  <a:srgbClr val="192C36"/>
                </a:solidFill>
                <a:latin typeface="Avenir Next"/>
                <a:ea typeface="Avenir Next"/>
                <a:cs typeface="Avenir Next"/>
              </a:defRPr>
            </a:lvl3pPr>
            <a:lvl4pPr algn="l">
              <a:defRPr sz="1275" b="0">
                <a:solidFill>
                  <a:srgbClr val="192C36"/>
                </a:solidFill>
                <a:latin typeface="Avenir Next"/>
                <a:ea typeface="Avenir Next"/>
                <a:cs typeface="Avenir Next"/>
              </a:defRPr>
            </a:lvl4pPr>
            <a:lvl5pPr algn="l">
              <a:defRPr sz="1275" b="0">
                <a:solidFill>
                  <a:srgbClr val="192C36"/>
                </a:solidFill>
                <a:latin typeface="Avenir Next"/>
                <a:ea typeface="Avenir Next"/>
                <a:cs typeface="Avenir Next"/>
              </a:defRPr>
            </a:lvl5pPr>
            <a:lvl6pPr algn="l">
              <a:defRPr sz="1275" b="0">
                <a:solidFill>
                  <a:srgbClr val="192C36"/>
                </a:solidFill>
                <a:latin typeface="Avenir Next"/>
                <a:ea typeface="Avenir Next"/>
                <a:cs typeface="Avenir Next"/>
              </a:defRPr>
            </a:lvl6pPr>
            <a:lvl7pPr algn="l">
              <a:defRPr sz="1275" b="0">
                <a:solidFill>
                  <a:srgbClr val="192C36"/>
                </a:solidFill>
                <a:latin typeface="Avenir Next"/>
                <a:ea typeface="Avenir Next"/>
                <a:cs typeface="Avenir Next"/>
              </a:defRPr>
            </a:lvl7pPr>
            <a:lvl8pPr algn="l">
              <a:defRPr sz="1275" b="0">
                <a:solidFill>
                  <a:srgbClr val="192C36"/>
                </a:solidFill>
                <a:latin typeface="Avenir Next"/>
                <a:ea typeface="Avenir Next"/>
                <a:cs typeface="Avenir Next"/>
              </a:defRPr>
            </a:lvl8pPr>
            <a:lvl9pPr algn="l">
              <a:defRPr sz="1275" b="0">
                <a:solidFill>
                  <a:srgbClr val="192C36"/>
                </a:solidFill>
                <a:latin typeface="Avenir Next"/>
                <a:ea typeface="Avenir Next"/>
                <a:cs typeface="Avenir Next"/>
              </a:defRPr>
            </a:lvl9pPr>
          </a:lstStyle>
          <a:p xmlns:a="http://schemas.openxmlformats.org/drawingml/2006/main">
            <a:pPr algn="l">
              <a:defRPr sz="1275" b="0">
                <a:solidFill>
                  <a:srgbClr val="192C36"/>
                </a:solidFill>
                <a:latin typeface="Avenir Next"/>
                <a:ea typeface="Avenir Next"/>
                <a:cs typeface="Avenir Next"/>
              </a:defRPr>
            </a:pPr>
            <a:r>
              <a:rPr sz="1275" b="0">
                <a:solidFill>
                  <a:srgbClr val="192C36"/>
                </a:solidFill>
                <a:latin typeface="Avenir Next"/>
                <a:ea typeface="Avenir Next"/>
                <a:cs typeface="Avenir Next"/>
              </a:rPr>
              <a:t>Combines scores</a:t>
            </a:r>
          </a:p>
          <a:p xmlns:a="http://schemas.openxmlformats.org/drawingml/2006/main">
            <a:pPr algn="l">
              <a:defRPr sz="1275" b="0">
                <a:solidFill>
                  <a:srgbClr val="192C36"/>
                </a:solidFill>
                <a:latin typeface="Avenir Next"/>
                <a:ea typeface="Avenir Next"/>
                <a:cs typeface="Avenir Next"/>
              </a:defRPr>
            </a:pPr>
            <a:r>
              <a:rPr sz="1275" b="0">
                <a:solidFill>
                  <a:srgbClr val="192C36"/>
                </a:solidFill>
                <a:latin typeface="Avenir Next"/>
                <a:ea typeface="Avenir Next"/>
                <a:cs typeface="Avenir Next"/>
              </a:rPr>
              <a:t>with thresholds</a:t>
            </a:r>
          </a:p>
        </p:txBody>
      </p:sp>
      <p:sp>
        <p:nvSpPr>
          <p:cNvPr id="21" name="">
            <a:extLst xmlns:a="http://schemas.openxmlformats.org/drawingml/2006/main">
              <a:ext uri="{FF2B5EF4-FFF2-40B4-BE49-F238E27FC236}">
                <a16:creationId xmlns:a16="http://schemas.microsoft.com/office/drawing/2014/main" id="{E0122AF3-E454-457F-851E-D75DB7D98CB0}"/>
              </a:ext>
            </a:extLst>
          </p:cNvPr>
          <p:cNvSpPr>
            <a:spLocks xmlns:a="http://schemas.openxmlformats.org/drawingml/2006/main" noGrp="1"/>
          </p:cNvSpPr>
          <p:nvPr/>
        </p:nvSpPr>
        <p:spPr>
          <a:xfrm xmlns:a="http://schemas.openxmlformats.org/drawingml/2006/main">
            <a:off x="10229850" y="2886075"/>
            <a:ext cx="1238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FFFFFF"/>
                </a:solidFill>
                <a:latin typeface="Avenir Next"/>
                <a:ea typeface="Avenir Next"/>
                <a:cs typeface="Avenir Next"/>
              </a:defRPr>
            </a:defPPr>
            <a:lvl1pPr algn="l">
              <a:defRPr sz="1650" b="1">
                <a:solidFill>
                  <a:srgbClr val="FFFFFF"/>
                </a:solidFill>
                <a:latin typeface="Avenir Next"/>
                <a:ea typeface="Avenir Next"/>
                <a:cs typeface="Avenir Next"/>
              </a:defRPr>
            </a:lvl1pPr>
            <a:lvl2pPr algn="l">
              <a:defRPr sz="1650" b="1">
                <a:solidFill>
                  <a:srgbClr val="FFFFFF"/>
                </a:solidFill>
                <a:latin typeface="Avenir Next"/>
                <a:ea typeface="Avenir Next"/>
                <a:cs typeface="Avenir Next"/>
              </a:defRPr>
            </a:lvl2pPr>
            <a:lvl3pPr algn="l">
              <a:defRPr sz="1650" b="1">
                <a:solidFill>
                  <a:srgbClr val="FFFFFF"/>
                </a:solidFill>
                <a:latin typeface="Avenir Next"/>
                <a:ea typeface="Avenir Next"/>
                <a:cs typeface="Avenir Next"/>
              </a:defRPr>
            </a:lvl3pPr>
            <a:lvl4pPr algn="l">
              <a:defRPr sz="1650" b="1">
                <a:solidFill>
                  <a:srgbClr val="FFFFFF"/>
                </a:solidFill>
                <a:latin typeface="Avenir Next"/>
                <a:ea typeface="Avenir Next"/>
                <a:cs typeface="Avenir Next"/>
              </a:defRPr>
            </a:lvl4pPr>
            <a:lvl5pPr algn="l">
              <a:defRPr sz="1650" b="1">
                <a:solidFill>
                  <a:srgbClr val="FFFFFF"/>
                </a:solidFill>
                <a:latin typeface="Avenir Next"/>
                <a:ea typeface="Avenir Next"/>
                <a:cs typeface="Avenir Next"/>
              </a:defRPr>
            </a:lvl5pPr>
            <a:lvl6pPr algn="l">
              <a:defRPr sz="1650" b="1">
                <a:solidFill>
                  <a:srgbClr val="FFFFFF"/>
                </a:solidFill>
                <a:latin typeface="Avenir Next"/>
                <a:ea typeface="Avenir Next"/>
                <a:cs typeface="Avenir Next"/>
              </a:defRPr>
            </a:lvl6pPr>
            <a:lvl7pPr algn="l">
              <a:defRPr sz="1650" b="1">
                <a:solidFill>
                  <a:srgbClr val="FFFFFF"/>
                </a:solidFill>
                <a:latin typeface="Avenir Next"/>
                <a:ea typeface="Avenir Next"/>
                <a:cs typeface="Avenir Next"/>
              </a:defRPr>
            </a:lvl7pPr>
            <a:lvl8pPr algn="l">
              <a:defRPr sz="1650" b="1">
                <a:solidFill>
                  <a:srgbClr val="FFFFFF"/>
                </a:solidFill>
                <a:latin typeface="Avenir Next"/>
                <a:ea typeface="Avenir Next"/>
                <a:cs typeface="Avenir Next"/>
              </a:defRPr>
            </a:lvl8pPr>
            <a:lvl9pPr algn="l">
              <a:defRPr sz="1650" b="1">
                <a:solidFill>
                  <a:srgbClr val="FFFFFF"/>
                </a:solidFill>
                <a:latin typeface="Avenir Next"/>
                <a:ea typeface="Avenir Next"/>
                <a:cs typeface="Avenir Next"/>
              </a:defRPr>
            </a:lvl9pPr>
          </a:lstStyle>
          <a:p xmlns:a="http://schemas.openxmlformats.org/drawingml/2006/main">
            <a:pPr algn="l">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ALLOW</a:t>
            </a:r>
          </a:p>
          <a:p xmlns:a="http://schemas.openxmlformats.org/drawingml/2006/main">
            <a:pPr algn="l">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ASK</a:t>
            </a:r>
          </a:p>
          <a:p xmlns:a="http://schemas.openxmlformats.org/drawingml/2006/main">
            <a:pPr algn="l">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HOLD</a:t>
            </a:r>
          </a:p>
        </p:txBody>
      </p:sp>
      <p:sp>
        <p:nvSpPr>
          <p:cNvPr id="22" name="">
            <a:extLst xmlns:a="http://schemas.openxmlformats.org/drawingml/2006/main">
              <a:ext uri="{FF2B5EF4-FFF2-40B4-BE49-F238E27FC236}">
                <a16:creationId xmlns:a16="http://schemas.microsoft.com/office/drawing/2014/main" id="{E7D57C18-8609-4CB9-B5FF-ED635F40B9FD}"/>
              </a:ext>
            </a:extLst>
          </p:cNvPr>
          <p:cNvSpPr>
            <a:spLocks xmlns:a="http://schemas.openxmlformats.org/drawingml/2006/main" noGrp="1"/>
          </p:cNvSpPr>
          <p:nvPr/>
        </p:nvSpPr>
        <p:spPr>
          <a:xfrm xmlns:a="http://schemas.openxmlformats.org/drawingml/2006/main">
            <a:off x="10229850" y="421005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D7E5E2"/>
                </a:solidFill>
                <a:latin typeface="Avenir Next"/>
                <a:ea typeface="Avenir Next"/>
                <a:cs typeface="Avenir Next"/>
              </a:defRPr>
            </a:defPPr>
            <a:lvl1pPr algn="l">
              <a:defRPr sz="975" b="0">
                <a:solidFill>
                  <a:srgbClr val="D7E5E2"/>
                </a:solidFill>
                <a:latin typeface="Avenir Next"/>
                <a:ea typeface="Avenir Next"/>
                <a:cs typeface="Avenir Next"/>
              </a:defRPr>
            </a:lvl1pPr>
            <a:lvl2pPr algn="l">
              <a:defRPr sz="975" b="0">
                <a:solidFill>
                  <a:srgbClr val="D7E5E2"/>
                </a:solidFill>
                <a:latin typeface="Avenir Next"/>
                <a:ea typeface="Avenir Next"/>
                <a:cs typeface="Avenir Next"/>
              </a:defRPr>
            </a:lvl2pPr>
            <a:lvl3pPr algn="l">
              <a:defRPr sz="975" b="0">
                <a:solidFill>
                  <a:srgbClr val="D7E5E2"/>
                </a:solidFill>
                <a:latin typeface="Avenir Next"/>
                <a:ea typeface="Avenir Next"/>
                <a:cs typeface="Avenir Next"/>
              </a:defRPr>
            </a:lvl3pPr>
            <a:lvl4pPr algn="l">
              <a:defRPr sz="975" b="0">
                <a:solidFill>
                  <a:srgbClr val="D7E5E2"/>
                </a:solidFill>
                <a:latin typeface="Avenir Next"/>
                <a:ea typeface="Avenir Next"/>
                <a:cs typeface="Avenir Next"/>
              </a:defRPr>
            </a:lvl4pPr>
            <a:lvl5pPr algn="l">
              <a:defRPr sz="975" b="0">
                <a:solidFill>
                  <a:srgbClr val="D7E5E2"/>
                </a:solidFill>
                <a:latin typeface="Avenir Next"/>
                <a:ea typeface="Avenir Next"/>
                <a:cs typeface="Avenir Next"/>
              </a:defRPr>
            </a:lvl5pPr>
            <a:lvl6pPr algn="l">
              <a:defRPr sz="975" b="0">
                <a:solidFill>
                  <a:srgbClr val="D7E5E2"/>
                </a:solidFill>
                <a:latin typeface="Avenir Next"/>
                <a:ea typeface="Avenir Next"/>
                <a:cs typeface="Avenir Next"/>
              </a:defRPr>
            </a:lvl6pPr>
            <a:lvl7pPr algn="l">
              <a:defRPr sz="975" b="0">
                <a:solidFill>
                  <a:srgbClr val="D7E5E2"/>
                </a:solidFill>
                <a:latin typeface="Avenir Next"/>
                <a:ea typeface="Avenir Next"/>
                <a:cs typeface="Avenir Next"/>
              </a:defRPr>
            </a:lvl7pPr>
            <a:lvl8pPr algn="l">
              <a:defRPr sz="975" b="0">
                <a:solidFill>
                  <a:srgbClr val="D7E5E2"/>
                </a:solidFill>
                <a:latin typeface="Avenir Next"/>
                <a:ea typeface="Avenir Next"/>
                <a:cs typeface="Avenir Next"/>
              </a:defRPr>
            </a:lvl8pPr>
            <a:lvl9pPr algn="l">
              <a:defRPr sz="975" b="0">
                <a:solidFill>
                  <a:srgbClr val="D7E5E2"/>
                </a:solidFill>
                <a:latin typeface="Avenir Next"/>
                <a:ea typeface="Avenir Next"/>
                <a:cs typeface="Avenir Next"/>
              </a:defRPr>
            </a:lvl9pPr>
          </a:lstStyle>
          <a:p xmlns:a="http://schemas.openxmlformats.org/drawingml/2006/main">
            <a:pPr algn="l">
              <a:defRPr sz="975" b="0">
                <a:solidFill>
                  <a:srgbClr val="D7E5E2"/>
                </a:solidFill>
                <a:latin typeface="Avenir Next"/>
                <a:ea typeface="Avenir Next"/>
                <a:cs typeface="Avenir Next"/>
              </a:defRPr>
            </a:pPr>
            <a:r>
              <a:rPr sz="975" b="0">
                <a:solidFill>
                  <a:srgbClr val="D7E5E2"/>
                </a:solidFill>
                <a:latin typeface="Avenir Next"/>
                <a:ea typeface="Avenir Next"/>
                <a:cs typeface="Avenir Next"/>
              </a:rPr>
              <a:t>Bank-side decision</a:t>
            </a:r>
          </a:p>
        </p:txBody>
      </p:sp>
      <p:sp>
        <p:nvSpPr>
          <p:cNvPr id="23" name="">
            <a:extLst xmlns:a="http://schemas.openxmlformats.org/drawingml/2006/main">
              <a:ext uri="{FF2B5EF4-FFF2-40B4-BE49-F238E27FC236}">
                <a16:creationId xmlns:a16="http://schemas.microsoft.com/office/drawing/2014/main" id="{1D91966F-31B3-4654-9C1A-B25DD6A2C68B}"/>
              </a:ext>
            </a:extLst>
          </p:cNvPr>
          <p:cNvSpPr>
            <a:spLocks xmlns:a="http://schemas.openxmlformats.org/drawingml/2006/main" noGrp="1"/>
          </p:cNvSpPr>
          <p:nvPr/>
        </p:nvSpPr>
        <p:spPr>
          <a:xfrm xmlns:a="http://schemas.openxmlformats.org/drawingml/2006/main">
            <a:off x="628650" y="5191125"/>
            <a:ext cx="1057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E6F75"/>
                </a:solidFill>
                <a:latin typeface="Avenir Next"/>
                <a:ea typeface="Avenir Next"/>
                <a:cs typeface="Avenir Next"/>
              </a:defRPr>
            </a:defPPr>
            <a:lvl1pPr algn="l">
              <a:defRPr sz="1275" b="0">
                <a:solidFill>
                  <a:srgbClr val="5E6F75"/>
                </a:solidFill>
                <a:latin typeface="Avenir Next"/>
                <a:ea typeface="Avenir Next"/>
                <a:cs typeface="Avenir Next"/>
              </a:defRPr>
            </a:lvl1pPr>
            <a:lvl2pPr algn="l">
              <a:defRPr sz="1275" b="0">
                <a:solidFill>
                  <a:srgbClr val="5E6F75"/>
                </a:solidFill>
                <a:latin typeface="Avenir Next"/>
                <a:ea typeface="Avenir Next"/>
                <a:cs typeface="Avenir Next"/>
              </a:defRPr>
            </a:lvl2pPr>
            <a:lvl3pPr algn="l">
              <a:defRPr sz="1275" b="0">
                <a:solidFill>
                  <a:srgbClr val="5E6F75"/>
                </a:solidFill>
                <a:latin typeface="Avenir Next"/>
                <a:ea typeface="Avenir Next"/>
                <a:cs typeface="Avenir Next"/>
              </a:defRPr>
            </a:lvl3pPr>
            <a:lvl4pPr algn="l">
              <a:defRPr sz="1275" b="0">
                <a:solidFill>
                  <a:srgbClr val="5E6F75"/>
                </a:solidFill>
                <a:latin typeface="Avenir Next"/>
                <a:ea typeface="Avenir Next"/>
                <a:cs typeface="Avenir Next"/>
              </a:defRPr>
            </a:lvl4pPr>
            <a:lvl5pPr algn="l">
              <a:defRPr sz="1275" b="0">
                <a:solidFill>
                  <a:srgbClr val="5E6F75"/>
                </a:solidFill>
                <a:latin typeface="Avenir Next"/>
                <a:ea typeface="Avenir Next"/>
                <a:cs typeface="Avenir Next"/>
              </a:defRPr>
            </a:lvl5pPr>
            <a:lvl6pPr algn="l">
              <a:defRPr sz="1275" b="0">
                <a:solidFill>
                  <a:srgbClr val="5E6F75"/>
                </a:solidFill>
                <a:latin typeface="Avenir Next"/>
                <a:ea typeface="Avenir Next"/>
                <a:cs typeface="Avenir Next"/>
              </a:defRPr>
            </a:lvl6pPr>
            <a:lvl7pPr algn="l">
              <a:defRPr sz="1275" b="0">
                <a:solidFill>
                  <a:srgbClr val="5E6F75"/>
                </a:solidFill>
                <a:latin typeface="Avenir Next"/>
                <a:ea typeface="Avenir Next"/>
                <a:cs typeface="Avenir Next"/>
              </a:defRPr>
            </a:lvl7pPr>
            <a:lvl8pPr algn="l">
              <a:defRPr sz="1275" b="0">
                <a:solidFill>
                  <a:srgbClr val="5E6F75"/>
                </a:solidFill>
                <a:latin typeface="Avenir Next"/>
                <a:ea typeface="Avenir Next"/>
                <a:cs typeface="Avenir Next"/>
              </a:defRPr>
            </a:lvl8pPr>
            <a:lvl9pPr algn="l">
              <a:defRPr sz="1275" b="0">
                <a:solidFill>
                  <a:srgbClr val="5E6F75"/>
                </a:solidFill>
                <a:latin typeface="Avenir Next"/>
                <a:ea typeface="Avenir Next"/>
                <a:cs typeface="Avenir Next"/>
              </a:defRPr>
            </a:lvl9pPr>
          </a:lstStyle>
          <a:p xmlns:a="http://schemas.openxmlformats.org/drawingml/2006/main">
            <a:pPr algn="l">
              <a:defRPr sz="1275" b="0">
                <a:solidFill>
                  <a:srgbClr val="5E6F75"/>
                </a:solidFill>
                <a:latin typeface="Avenir Next"/>
                <a:ea typeface="Avenir Next"/>
                <a:cs typeface="Avenir Next"/>
              </a:defRPr>
            </a:pPr>
            <a:r>
              <a:rPr sz="1275" b="0">
                <a:solidFill>
                  <a:srgbClr val="5E6F75"/>
                </a:solidFill>
                <a:latin typeface="Avenir Next"/>
                <a:ea typeface="Avenir Next"/>
                <a:cs typeface="Avenir Next"/>
              </a:rPr>
              <a:t>The recipient name is not a model feature. Names and account numbers stay out of the case-note prompt.</a:t>
            </a:r>
          </a:p>
        </p:txBody>
      </p:sp>
    </p:spTree>
    <p:extLst>
      <p:ext uri="{BB962C8B-B14F-4D97-AF65-F5344CB8AC3E}">
        <p14:creationId xmlns:p14="http://schemas.microsoft.com/office/powerpoint/2010/main" val="1473138432"/>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8122EC7-D24C-4900-806E-21D5FC41E477}"/>
              </a:ext>
            </a:extLst>
          </p:cNvPr>
          <p:cNvSpPr>
            <a:spLocks xmlns:a="http://schemas.openxmlformats.org/drawingml/2006/main" noGrp="1"/>
          </p:cNvSpPr>
          <p:nvPr/>
        </p:nvSpPr>
        <p:spPr>
          <a:xfrm xmlns:a="http://schemas.openxmlformats.org/drawingml/2006/main">
            <a:off x="590550" y="323850"/>
            <a:ext cx="657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E6F75"/>
                </a:solidFill>
                <a:latin typeface="Avenir Next"/>
                <a:ea typeface="Avenir Next"/>
                <a:cs typeface="Avenir Next"/>
              </a:defRPr>
            </a:defPPr>
            <a:lvl1pPr algn="l">
              <a:defRPr sz="900" b="1">
                <a:solidFill>
                  <a:srgbClr val="5E6F75"/>
                </a:solidFill>
                <a:latin typeface="Avenir Next"/>
                <a:ea typeface="Avenir Next"/>
                <a:cs typeface="Avenir Next"/>
              </a:defRPr>
            </a:lvl1pPr>
            <a:lvl2pPr algn="l">
              <a:defRPr sz="900" b="1">
                <a:solidFill>
                  <a:srgbClr val="5E6F75"/>
                </a:solidFill>
                <a:latin typeface="Avenir Next"/>
                <a:ea typeface="Avenir Next"/>
                <a:cs typeface="Avenir Next"/>
              </a:defRPr>
            </a:lvl2pPr>
            <a:lvl3pPr algn="l">
              <a:defRPr sz="900" b="1">
                <a:solidFill>
                  <a:srgbClr val="5E6F75"/>
                </a:solidFill>
                <a:latin typeface="Avenir Next"/>
                <a:ea typeface="Avenir Next"/>
                <a:cs typeface="Avenir Next"/>
              </a:defRPr>
            </a:lvl3pPr>
            <a:lvl4pPr algn="l">
              <a:defRPr sz="900" b="1">
                <a:solidFill>
                  <a:srgbClr val="5E6F75"/>
                </a:solidFill>
                <a:latin typeface="Avenir Next"/>
                <a:ea typeface="Avenir Next"/>
                <a:cs typeface="Avenir Next"/>
              </a:defRPr>
            </a:lvl4pPr>
            <a:lvl5pPr algn="l">
              <a:defRPr sz="900" b="1">
                <a:solidFill>
                  <a:srgbClr val="5E6F75"/>
                </a:solidFill>
                <a:latin typeface="Avenir Next"/>
                <a:ea typeface="Avenir Next"/>
                <a:cs typeface="Avenir Next"/>
              </a:defRPr>
            </a:lvl5pPr>
            <a:lvl6pPr algn="l">
              <a:defRPr sz="900" b="1">
                <a:solidFill>
                  <a:srgbClr val="5E6F75"/>
                </a:solidFill>
                <a:latin typeface="Avenir Next"/>
                <a:ea typeface="Avenir Next"/>
                <a:cs typeface="Avenir Next"/>
              </a:defRPr>
            </a:lvl6pPr>
            <a:lvl7pPr algn="l">
              <a:defRPr sz="900" b="1">
                <a:solidFill>
                  <a:srgbClr val="5E6F75"/>
                </a:solidFill>
                <a:latin typeface="Avenir Next"/>
                <a:ea typeface="Avenir Next"/>
                <a:cs typeface="Avenir Next"/>
              </a:defRPr>
            </a:lvl7pPr>
            <a:lvl8pPr algn="l">
              <a:defRPr sz="900" b="1">
                <a:solidFill>
                  <a:srgbClr val="5E6F75"/>
                </a:solidFill>
                <a:latin typeface="Avenir Next"/>
                <a:ea typeface="Avenir Next"/>
                <a:cs typeface="Avenir Next"/>
              </a:defRPr>
            </a:lvl8pPr>
            <a:lvl9pPr algn="l">
              <a:defRPr sz="900" b="1">
                <a:solidFill>
                  <a:srgbClr val="5E6F75"/>
                </a:solidFill>
                <a:latin typeface="Avenir Next"/>
                <a:ea typeface="Avenir Next"/>
                <a:cs typeface="Avenir Next"/>
              </a:defRPr>
            </a:lvl9pPr>
          </a:lstStyle>
          <a:p xmlns:a="http://schemas.openxmlformats.org/drawingml/2006/main">
            <a:pPr algn="l">
              <a:defRPr sz="900" b="1">
                <a:solidFill>
                  <a:srgbClr val="5E6F75"/>
                </a:solidFill>
                <a:latin typeface="Avenir Next"/>
                <a:ea typeface="Avenir Next"/>
                <a:cs typeface="Avenir Next"/>
              </a:defRPr>
            </a:pPr>
            <a:r>
              <a:rPr sz="900" b="1">
                <a:solidFill>
                  <a:srgbClr val="5E6F75"/>
                </a:solidFill>
                <a:latin typeface="Avenir Next"/>
                <a:ea typeface="Avenir Next"/>
                <a:cs typeface="Avenir Next"/>
              </a:rPr>
              <a:t>TOKENMAXXERS    /    IBM Z DATATHON 2026</a:t>
            </a:r>
          </a:p>
        </p:txBody>
      </p:sp>
      <p:sp>
        <p:nvSpPr>
          <p:cNvPr id="2" name="">
            <a:extLst xmlns:a="http://schemas.openxmlformats.org/drawingml/2006/main">
              <a:ext uri="{FF2B5EF4-FFF2-40B4-BE49-F238E27FC236}">
                <a16:creationId xmlns:a16="http://schemas.microsoft.com/office/drawing/2014/main" id="{91CEA535-DF71-4342-A3F2-5576B7077360}"/>
              </a:ext>
            </a:extLst>
          </p:cNvPr>
          <p:cNvSpPr>
            <a:spLocks xmlns:a="http://schemas.openxmlformats.org/drawingml/2006/main" noGrp="1"/>
          </p:cNvSpPr>
          <p:nvPr/>
        </p:nvSpPr>
        <p:spPr>
          <a:xfrm xmlns:a="http://schemas.openxmlformats.org/drawingml/2006/main">
            <a:off x="590550" y="641985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825" b="0">
                <a:solidFill>
                  <a:srgbClr val="5E6F75"/>
                </a:solidFill>
                <a:latin typeface="Avenir Next"/>
                <a:ea typeface="Avenir Next"/>
                <a:cs typeface="Avenir Next"/>
              </a:defRPr>
            </a:defPPr>
            <a:lvl1pPr algn="l">
              <a:defRPr sz="825" b="0">
                <a:solidFill>
                  <a:srgbClr val="5E6F75"/>
                </a:solidFill>
                <a:latin typeface="Avenir Next"/>
                <a:ea typeface="Avenir Next"/>
                <a:cs typeface="Avenir Next"/>
              </a:defRPr>
            </a:lvl1pPr>
            <a:lvl2pPr algn="l">
              <a:defRPr sz="825" b="0">
                <a:solidFill>
                  <a:srgbClr val="5E6F75"/>
                </a:solidFill>
                <a:latin typeface="Avenir Next"/>
                <a:ea typeface="Avenir Next"/>
                <a:cs typeface="Avenir Next"/>
              </a:defRPr>
            </a:lvl2pPr>
            <a:lvl3pPr algn="l">
              <a:defRPr sz="825" b="0">
                <a:solidFill>
                  <a:srgbClr val="5E6F75"/>
                </a:solidFill>
                <a:latin typeface="Avenir Next"/>
                <a:ea typeface="Avenir Next"/>
                <a:cs typeface="Avenir Next"/>
              </a:defRPr>
            </a:lvl3pPr>
            <a:lvl4pPr algn="l">
              <a:defRPr sz="825" b="0">
                <a:solidFill>
                  <a:srgbClr val="5E6F75"/>
                </a:solidFill>
                <a:latin typeface="Avenir Next"/>
                <a:ea typeface="Avenir Next"/>
                <a:cs typeface="Avenir Next"/>
              </a:defRPr>
            </a:lvl4pPr>
            <a:lvl5pPr algn="l">
              <a:defRPr sz="825" b="0">
                <a:solidFill>
                  <a:srgbClr val="5E6F75"/>
                </a:solidFill>
                <a:latin typeface="Avenir Next"/>
                <a:ea typeface="Avenir Next"/>
                <a:cs typeface="Avenir Next"/>
              </a:defRPr>
            </a:lvl5pPr>
            <a:lvl6pPr algn="l">
              <a:defRPr sz="825" b="0">
                <a:solidFill>
                  <a:srgbClr val="5E6F75"/>
                </a:solidFill>
                <a:latin typeface="Avenir Next"/>
                <a:ea typeface="Avenir Next"/>
                <a:cs typeface="Avenir Next"/>
              </a:defRPr>
            </a:lvl6pPr>
            <a:lvl7pPr algn="l">
              <a:defRPr sz="825" b="0">
                <a:solidFill>
                  <a:srgbClr val="5E6F75"/>
                </a:solidFill>
                <a:latin typeface="Avenir Next"/>
                <a:ea typeface="Avenir Next"/>
                <a:cs typeface="Avenir Next"/>
              </a:defRPr>
            </a:lvl7pPr>
            <a:lvl8pPr algn="l">
              <a:defRPr sz="825" b="0">
                <a:solidFill>
                  <a:srgbClr val="5E6F75"/>
                </a:solidFill>
                <a:latin typeface="Avenir Next"/>
                <a:ea typeface="Avenir Next"/>
                <a:cs typeface="Avenir Next"/>
              </a:defRPr>
            </a:lvl8pPr>
            <a:lvl9pPr algn="l">
              <a:defRPr sz="825" b="0">
                <a:solidFill>
                  <a:srgbClr val="5E6F75"/>
                </a:solidFill>
                <a:latin typeface="Avenir Next"/>
                <a:ea typeface="Avenir Next"/>
                <a:cs typeface="Avenir Next"/>
              </a:defRPr>
            </a:lvl9pPr>
          </a:lstStyle>
          <a:p xmlns:a="http://schemas.openxmlformats.org/drawingml/2006/main">
            <a:pPr algn="l">
              <a:defRPr sz="825" b="0">
                <a:solidFill>
                  <a:srgbClr val="5E6F75"/>
                </a:solidFill>
                <a:latin typeface="Avenir Next"/>
                <a:ea typeface="Avenir Next"/>
                <a:cs typeface="Avenir Next"/>
              </a:defRPr>
            </a:pPr>
            <a:r>
              <a:rPr sz="825" b="0">
                <a:solidFill>
                  <a:srgbClr val="5E6F75"/>
                </a:solidFill>
                <a:latin typeface="Avenir Next"/>
                <a:ea typeface="Avenir Next"/>
                <a:cs typeface="Avenir Next"/>
              </a:rPr>
              <a:t>SPELLBREAKER   ·   BUILT ON IBM LINUXONE</a:t>
            </a:r>
          </a:p>
        </p:txBody>
      </p:sp>
      <p:sp>
        <p:nvSpPr>
          <p:cNvPr id="3" name="">
            <a:extLst xmlns:a="http://schemas.openxmlformats.org/drawingml/2006/main">
              <a:ext uri="{FF2B5EF4-FFF2-40B4-BE49-F238E27FC236}">
                <a16:creationId xmlns:a16="http://schemas.microsoft.com/office/drawing/2014/main" id="{8392F8F7-BF9F-4316-864D-43639AEB06D6}"/>
              </a:ext>
            </a:extLst>
          </p:cNvPr>
          <p:cNvSpPr>
            <a:spLocks xmlns:a="http://schemas.openxmlformats.org/drawingml/2006/main" noGrp="1"/>
          </p:cNvSpPr>
          <p:nvPr/>
        </p:nvSpPr>
        <p:spPr>
          <a:xfrm xmlns:a="http://schemas.openxmlformats.org/drawingml/2006/main">
            <a:off x="11144250" y="64198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825" b="1">
                <a:solidFill>
                  <a:srgbClr val="5E6F75"/>
                </a:solidFill>
                <a:latin typeface="Avenir Next"/>
                <a:ea typeface="Avenir Next"/>
                <a:cs typeface="Avenir Next"/>
              </a:defRPr>
            </a:defPPr>
            <a:lvl1pPr algn="r">
              <a:defRPr sz="825" b="1">
                <a:solidFill>
                  <a:srgbClr val="5E6F75"/>
                </a:solidFill>
                <a:latin typeface="Avenir Next"/>
                <a:ea typeface="Avenir Next"/>
                <a:cs typeface="Avenir Next"/>
              </a:defRPr>
            </a:lvl1pPr>
            <a:lvl2pPr algn="r">
              <a:defRPr sz="825" b="1">
                <a:solidFill>
                  <a:srgbClr val="5E6F75"/>
                </a:solidFill>
                <a:latin typeface="Avenir Next"/>
                <a:ea typeface="Avenir Next"/>
                <a:cs typeface="Avenir Next"/>
              </a:defRPr>
            </a:lvl2pPr>
            <a:lvl3pPr algn="r">
              <a:defRPr sz="825" b="1">
                <a:solidFill>
                  <a:srgbClr val="5E6F75"/>
                </a:solidFill>
                <a:latin typeface="Avenir Next"/>
                <a:ea typeface="Avenir Next"/>
                <a:cs typeface="Avenir Next"/>
              </a:defRPr>
            </a:lvl3pPr>
            <a:lvl4pPr algn="r">
              <a:defRPr sz="825" b="1">
                <a:solidFill>
                  <a:srgbClr val="5E6F75"/>
                </a:solidFill>
                <a:latin typeface="Avenir Next"/>
                <a:ea typeface="Avenir Next"/>
                <a:cs typeface="Avenir Next"/>
              </a:defRPr>
            </a:lvl4pPr>
            <a:lvl5pPr algn="r">
              <a:defRPr sz="825" b="1">
                <a:solidFill>
                  <a:srgbClr val="5E6F75"/>
                </a:solidFill>
                <a:latin typeface="Avenir Next"/>
                <a:ea typeface="Avenir Next"/>
                <a:cs typeface="Avenir Next"/>
              </a:defRPr>
            </a:lvl5pPr>
            <a:lvl6pPr algn="r">
              <a:defRPr sz="825" b="1">
                <a:solidFill>
                  <a:srgbClr val="5E6F75"/>
                </a:solidFill>
                <a:latin typeface="Avenir Next"/>
                <a:ea typeface="Avenir Next"/>
                <a:cs typeface="Avenir Next"/>
              </a:defRPr>
            </a:lvl6pPr>
            <a:lvl7pPr algn="r">
              <a:defRPr sz="825" b="1">
                <a:solidFill>
                  <a:srgbClr val="5E6F75"/>
                </a:solidFill>
                <a:latin typeface="Avenir Next"/>
                <a:ea typeface="Avenir Next"/>
                <a:cs typeface="Avenir Next"/>
              </a:defRPr>
            </a:lvl7pPr>
            <a:lvl8pPr algn="r">
              <a:defRPr sz="825" b="1">
                <a:solidFill>
                  <a:srgbClr val="5E6F75"/>
                </a:solidFill>
                <a:latin typeface="Avenir Next"/>
                <a:ea typeface="Avenir Next"/>
                <a:cs typeface="Avenir Next"/>
              </a:defRPr>
            </a:lvl8pPr>
            <a:lvl9pPr algn="r">
              <a:defRPr sz="825" b="1">
                <a:solidFill>
                  <a:srgbClr val="5E6F75"/>
                </a:solidFill>
                <a:latin typeface="Avenir Next"/>
                <a:ea typeface="Avenir Next"/>
                <a:cs typeface="Avenir Next"/>
              </a:defRPr>
            </a:lvl9pPr>
          </a:lstStyle>
          <a:p xmlns:a="http://schemas.openxmlformats.org/drawingml/2006/main">
            <a:pPr algn="r">
              <a:defRPr sz="825" b="1">
                <a:solidFill>
                  <a:srgbClr val="5E6F75"/>
                </a:solidFill>
                <a:latin typeface="Avenir Next"/>
                <a:ea typeface="Avenir Next"/>
                <a:cs typeface="Avenir Next"/>
              </a:defRPr>
            </a:pPr>
            <a:r>
              <a:rPr sz="825" b="1">
                <a:solidFill>
                  <a:srgbClr val="5E6F75"/>
                </a:solidFill>
                <a:latin typeface="Avenir Next"/>
                <a:ea typeface="Avenir Next"/>
                <a:cs typeface="Avenir Next"/>
              </a:rPr>
              <a:t>04</a:t>
            </a:r>
          </a:p>
        </p:txBody>
      </p:sp>
      <p:sp>
        <p:nvSpPr>
          <p:cNvPr id="4" name="">
            <a:extLst xmlns:a="http://schemas.openxmlformats.org/drawingml/2006/main">
              <a:ext uri="{FF2B5EF4-FFF2-40B4-BE49-F238E27FC236}">
                <a16:creationId xmlns:a16="http://schemas.microsoft.com/office/drawing/2014/main" id="{35B24116-1DAA-46E5-B3DF-EE003C7F4731}"/>
              </a:ext>
            </a:extLst>
          </p:cNvPr>
          <p:cNvSpPr>
            <a:spLocks xmlns:a="http://schemas.openxmlformats.org/drawingml/2006/main" noGrp="1"/>
          </p:cNvSpPr>
          <p:nvPr/>
        </p:nvSpPr>
        <p:spPr>
          <a:xfrm xmlns:a="http://schemas.openxmlformats.org/drawingml/2006/main">
            <a:off x="590550" y="885825"/>
            <a:ext cx="6572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150" b="1">
                <a:solidFill>
                  <a:srgbClr val="192C36"/>
                </a:solidFill>
                <a:latin typeface="Avenir Next"/>
                <a:ea typeface="Avenir Next"/>
                <a:cs typeface="Avenir Next"/>
              </a:defRPr>
            </a:defPPr>
            <a:lvl1pPr algn="l">
              <a:defRPr sz="3150" b="1">
                <a:solidFill>
                  <a:srgbClr val="192C36"/>
                </a:solidFill>
                <a:latin typeface="Avenir Next"/>
                <a:ea typeface="Avenir Next"/>
                <a:cs typeface="Avenir Next"/>
              </a:defRPr>
            </a:lvl1pPr>
            <a:lvl2pPr algn="l">
              <a:defRPr sz="3150" b="1">
                <a:solidFill>
                  <a:srgbClr val="192C36"/>
                </a:solidFill>
                <a:latin typeface="Avenir Next"/>
                <a:ea typeface="Avenir Next"/>
                <a:cs typeface="Avenir Next"/>
              </a:defRPr>
            </a:lvl2pPr>
            <a:lvl3pPr algn="l">
              <a:defRPr sz="3150" b="1">
                <a:solidFill>
                  <a:srgbClr val="192C36"/>
                </a:solidFill>
                <a:latin typeface="Avenir Next"/>
                <a:ea typeface="Avenir Next"/>
                <a:cs typeface="Avenir Next"/>
              </a:defRPr>
            </a:lvl3pPr>
            <a:lvl4pPr algn="l">
              <a:defRPr sz="3150" b="1">
                <a:solidFill>
                  <a:srgbClr val="192C36"/>
                </a:solidFill>
                <a:latin typeface="Avenir Next"/>
                <a:ea typeface="Avenir Next"/>
                <a:cs typeface="Avenir Next"/>
              </a:defRPr>
            </a:lvl4pPr>
            <a:lvl5pPr algn="l">
              <a:defRPr sz="3150" b="1">
                <a:solidFill>
                  <a:srgbClr val="192C36"/>
                </a:solidFill>
                <a:latin typeface="Avenir Next"/>
                <a:ea typeface="Avenir Next"/>
                <a:cs typeface="Avenir Next"/>
              </a:defRPr>
            </a:lvl5pPr>
            <a:lvl6pPr algn="l">
              <a:defRPr sz="3150" b="1">
                <a:solidFill>
                  <a:srgbClr val="192C36"/>
                </a:solidFill>
                <a:latin typeface="Avenir Next"/>
                <a:ea typeface="Avenir Next"/>
                <a:cs typeface="Avenir Next"/>
              </a:defRPr>
            </a:lvl6pPr>
            <a:lvl7pPr algn="l">
              <a:defRPr sz="3150" b="1">
                <a:solidFill>
                  <a:srgbClr val="192C36"/>
                </a:solidFill>
                <a:latin typeface="Avenir Next"/>
                <a:ea typeface="Avenir Next"/>
                <a:cs typeface="Avenir Next"/>
              </a:defRPr>
            </a:lvl7pPr>
            <a:lvl8pPr algn="l">
              <a:defRPr sz="3150" b="1">
                <a:solidFill>
                  <a:srgbClr val="192C36"/>
                </a:solidFill>
                <a:latin typeface="Avenir Next"/>
                <a:ea typeface="Avenir Next"/>
                <a:cs typeface="Avenir Next"/>
              </a:defRPr>
            </a:lvl8pPr>
            <a:lvl9pPr algn="l">
              <a:defRPr sz="3150" b="1">
                <a:solidFill>
                  <a:srgbClr val="192C36"/>
                </a:solidFill>
                <a:latin typeface="Avenir Next"/>
                <a:ea typeface="Avenir Next"/>
                <a:cs typeface="Avenir Next"/>
              </a:defRPr>
            </a:lvl9pPr>
          </a:lstStyle>
          <a:p xmlns:a="http://schemas.openxmlformats.org/drawingml/2006/main">
            <a:pPr algn="l">
              <a:defRPr sz="3150" b="1">
                <a:solidFill>
                  <a:srgbClr val="192C36"/>
                </a:solidFill>
                <a:latin typeface="Avenir Next"/>
                <a:ea typeface="Avenir Next"/>
                <a:cs typeface="Avenir Next"/>
              </a:defRPr>
            </a:pPr>
            <a:r>
              <a:rPr sz="3150" b="1">
                <a:solidFill>
                  <a:srgbClr val="192C36"/>
                </a:solidFill>
                <a:latin typeface="Avenir Next"/>
                <a:ea typeface="Avenir Next"/>
                <a:cs typeface="Avenir Next"/>
              </a:rPr>
              <a:t>Small models. Fast decision.</a:t>
            </a:r>
          </a:p>
          <a:p xmlns:a="http://schemas.openxmlformats.org/drawingml/2006/main">
            <a:pPr algn="l">
              <a:defRPr sz="3150" b="1">
                <a:solidFill>
                  <a:srgbClr val="192C36"/>
                </a:solidFill>
                <a:latin typeface="Avenir Next"/>
                <a:ea typeface="Avenir Next"/>
                <a:cs typeface="Avenir Next"/>
              </a:defRPr>
            </a:pPr>
            <a:r>
              <a:rPr sz="3150" b="1">
                <a:solidFill>
                  <a:srgbClr val="192C36"/>
                </a:solidFill>
                <a:latin typeface="Avenir Next"/>
                <a:ea typeface="Avenir Next"/>
                <a:cs typeface="Avenir Next"/>
              </a:rPr>
              <a:t>Then we’ll show it live.</a:t>
            </a:r>
          </a:p>
        </p:txBody>
      </p:sp>
      <p:sp>
        <p:nvSpPr>
          <p:cNvPr id="5" name="">
            <a:extLst xmlns:a="http://schemas.openxmlformats.org/drawingml/2006/main">
              <a:ext uri="{FF2B5EF4-FFF2-40B4-BE49-F238E27FC236}">
                <a16:creationId xmlns:a16="http://schemas.microsoft.com/office/drawing/2014/main" id="{6B976EE3-2F99-474F-BA54-DA3B124037C6}"/>
              </a:ext>
            </a:extLst>
          </p:cNvPr>
          <p:cNvSpPr>
            <a:spLocks xmlns:a="http://schemas.openxmlformats.org/drawingml/2006/main" noGrp="1"/>
          </p:cNvSpPr>
          <p:nvPr/>
        </p:nvSpPr>
        <p:spPr>
          <a:xfrm xmlns:a="http://schemas.openxmlformats.org/drawingml/2006/main">
            <a:off x="628650" y="2133600"/>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0">
                <a:solidFill>
                  <a:srgbClr val="5E6F75"/>
                </a:solidFill>
                <a:latin typeface="Avenir Next"/>
                <a:ea typeface="Avenir Next"/>
                <a:cs typeface="Avenir Next"/>
              </a:defRPr>
            </a:defPPr>
            <a:lvl1pPr algn="l">
              <a:defRPr sz="1500" b="0">
                <a:solidFill>
                  <a:srgbClr val="5E6F75"/>
                </a:solidFill>
                <a:latin typeface="Avenir Next"/>
                <a:ea typeface="Avenir Next"/>
                <a:cs typeface="Avenir Next"/>
              </a:defRPr>
            </a:lvl1pPr>
            <a:lvl2pPr algn="l">
              <a:defRPr sz="1500" b="0">
                <a:solidFill>
                  <a:srgbClr val="5E6F75"/>
                </a:solidFill>
                <a:latin typeface="Avenir Next"/>
                <a:ea typeface="Avenir Next"/>
                <a:cs typeface="Avenir Next"/>
              </a:defRPr>
            </a:lvl2pPr>
            <a:lvl3pPr algn="l">
              <a:defRPr sz="1500" b="0">
                <a:solidFill>
                  <a:srgbClr val="5E6F75"/>
                </a:solidFill>
                <a:latin typeface="Avenir Next"/>
                <a:ea typeface="Avenir Next"/>
                <a:cs typeface="Avenir Next"/>
              </a:defRPr>
            </a:lvl3pPr>
            <a:lvl4pPr algn="l">
              <a:defRPr sz="1500" b="0">
                <a:solidFill>
                  <a:srgbClr val="5E6F75"/>
                </a:solidFill>
                <a:latin typeface="Avenir Next"/>
                <a:ea typeface="Avenir Next"/>
                <a:cs typeface="Avenir Next"/>
              </a:defRPr>
            </a:lvl4pPr>
            <a:lvl5pPr algn="l">
              <a:defRPr sz="1500" b="0">
                <a:solidFill>
                  <a:srgbClr val="5E6F75"/>
                </a:solidFill>
                <a:latin typeface="Avenir Next"/>
                <a:ea typeface="Avenir Next"/>
                <a:cs typeface="Avenir Next"/>
              </a:defRPr>
            </a:lvl5pPr>
            <a:lvl6pPr algn="l">
              <a:defRPr sz="1500" b="0">
                <a:solidFill>
                  <a:srgbClr val="5E6F75"/>
                </a:solidFill>
                <a:latin typeface="Avenir Next"/>
                <a:ea typeface="Avenir Next"/>
                <a:cs typeface="Avenir Next"/>
              </a:defRPr>
            </a:lvl6pPr>
            <a:lvl7pPr algn="l">
              <a:defRPr sz="1500" b="0">
                <a:solidFill>
                  <a:srgbClr val="5E6F75"/>
                </a:solidFill>
                <a:latin typeface="Avenir Next"/>
                <a:ea typeface="Avenir Next"/>
                <a:cs typeface="Avenir Next"/>
              </a:defRPr>
            </a:lvl7pPr>
            <a:lvl8pPr algn="l">
              <a:defRPr sz="1500" b="0">
                <a:solidFill>
                  <a:srgbClr val="5E6F75"/>
                </a:solidFill>
                <a:latin typeface="Avenir Next"/>
                <a:ea typeface="Avenir Next"/>
                <a:cs typeface="Avenir Next"/>
              </a:defRPr>
            </a:lvl8pPr>
            <a:lvl9pPr algn="l">
              <a:defRPr sz="1500" b="0">
                <a:solidFill>
                  <a:srgbClr val="5E6F75"/>
                </a:solidFill>
                <a:latin typeface="Avenir Next"/>
                <a:ea typeface="Avenir Next"/>
                <a:cs typeface="Avenir Next"/>
              </a:defRPr>
            </a:lvl9pPr>
          </a:lstStyle>
          <a:p xmlns:a="http://schemas.openxmlformats.org/drawingml/2006/main">
            <a:pPr algn="l">
              <a:defRPr sz="1500" b="0">
                <a:solidFill>
                  <a:srgbClr val="5E6F75"/>
                </a:solidFill>
                <a:latin typeface="Avenir Next"/>
                <a:ea typeface="Avenir Next"/>
                <a:cs typeface="Avenir Next"/>
              </a:defRPr>
            </a:pPr>
            <a:r>
              <a:rPr sz="1500" b="0">
                <a:solidFill>
                  <a:srgbClr val="5E6F75"/>
                </a:solidFill>
                <a:latin typeface="Avenir Next"/>
                <a:ea typeface="Avenir Next"/>
                <a:cs typeface="Avenir Next"/>
              </a:rPr>
              <a:t>Scoring runs on IBM LinuxONE (s390x).</a:t>
            </a:r>
          </a:p>
        </p:txBody>
      </p:sp>
      <p:sp>
        <p:nvSpPr>
          <p:cNvPr id="6" name="">
            <a:extLst xmlns:a="http://schemas.openxmlformats.org/drawingml/2006/main">
              <a:ext uri="{FF2B5EF4-FFF2-40B4-BE49-F238E27FC236}">
                <a16:creationId xmlns:a16="http://schemas.microsoft.com/office/drawing/2014/main" id="{8DA3D440-3336-4FA1-A7DD-09EC21EDC094}"/>
              </a:ext>
            </a:extLst>
          </p:cNvPr>
          <p:cNvSpPr>
            <a:spLocks xmlns:a="http://schemas.openxmlformats.org/drawingml/2006/main" noGrp="1"/>
          </p:cNvSpPr>
          <p:nvPr/>
        </p:nvSpPr>
        <p:spPr>
          <a:xfrm xmlns:a="http://schemas.openxmlformats.org/drawingml/2006/main">
            <a:off x="628650" y="2952750"/>
            <a:ext cx="38100" cy="1876425"/>
          </a:xfrm>
          <a:prstGeom xmlns:a="http://schemas.openxmlformats.org/drawingml/2006/main" prst="rect">
            <a:avLst/>
          </a:prstGeom>
          <a:solidFill xmlns:a="http://schemas.openxmlformats.org/drawingml/2006/main">
            <a:srgbClr val="1D716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DA91942-BB36-4727-A925-7423C1652F79}"/>
              </a:ext>
            </a:extLst>
          </p:cNvPr>
          <p:cNvSpPr>
            <a:spLocks xmlns:a="http://schemas.openxmlformats.org/drawingml/2006/main" noGrp="1"/>
          </p:cNvSpPr>
          <p:nvPr/>
        </p:nvSpPr>
        <p:spPr>
          <a:xfrm xmlns:a="http://schemas.openxmlformats.org/drawingml/2006/main">
            <a:off x="866775" y="29146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92C36"/>
                </a:solidFill>
                <a:latin typeface="Avenir Next"/>
                <a:ea typeface="Avenir Next"/>
                <a:cs typeface="Avenir Next"/>
              </a:defRPr>
            </a:defPPr>
            <a:lvl1pPr algn="l">
              <a:defRPr sz="1500" b="1">
                <a:solidFill>
                  <a:srgbClr val="192C36"/>
                </a:solidFill>
                <a:latin typeface="Avenir Next"/>
                <a:ea typeface="Avenir Next"/>
                <a:cs typeface="Avenir Next"/>
              </a:defRPr>
            </a:lvl1pPr>
            <a:lvl2pPr algn="l">
              <a:defRPr sz="1500" b="1">
                <a:solidFill>
                  <a:srgbClr val="192C36"/>
                </a:solidFill>
                <a:latin typeface="Avenir Next"/>
                <a:ea typeface="Avenir Next"/>
                <a:cs typeface="Avenir Next"/>
              </a:defRPr>
            </a:lvl2pPr>
            <a:lvl3pPr algn="l">
              <a:defRPr sz="1500" b="1">
                <a:solidFill>
                  <a:srgbClr val="192C36"/>
                </a:solidFill>
                <a:latin typeface="Avenir Next"/>
                <a:ea typeface="Avenir Next"/>
                <a:cs typeface="Avenir Next"/>
              </a:defRPr>
            </a:lvl3pPr>
            <a:lvl4pPr algn="l">
              <a:defRPr sz="1500" b="1">
                <a:solidFill>
                  <a:srgbClr val="192C36"/>
                </a:solidFill>
                <a:latin typeface="Avenir Next"/>
                <a:ea typeface="Avenir Next"/>
                <a:cs typeface="Avenir Next"/>
              </a:defRPr>
            </a:lvl4pPr>
            <a:lvl5pPr algn="l">
              <a:defRPr sz="1500" b="1">
                <a:solidFill>
                  <a:srgbClr val="192C36"/>
                </a:solidFill>
                <a:latin typeface="Avenir Next"/>
                <a:ea typeface="Avenir Next"/>
                <a:cs typeface="Avenir Next"/>
              </a:defRPr>
            </a:lvl5pPr>
            <a:lvl6pPr algn="l">
              <a:defRPr sz="1500" b="1">
                <a:solidFill>
                  <a:srgbClr val="192C36"/>
                </a:solidFill>
                <a:latin typeface="Avenir Next"/>
                <a:ea typeface="Avenir Next"/>
                <a:cs typeface="Avenir Next"/>
              </a:defRPr>
            </a:lvl6pPr>
            <a:lvl7pPr algn="l">
              <a:defRPr sz="1500" b="1">
                <a:solidFill>
                  <a:srgbClr val="192C36"/>
                </a:solidFill>
                <a:latin typeface="Avenir Next"/>
                <a:ea typeface="Avenir Next"/>
                <a:cs typeface="Avenir Next"/>
              </a:defRPr>
            </a:lvl7pPr>
            <a:lvl8pPr algn="l">
              <a:defRPr sz="1500" b="1">
                <a:solidFill>
                  <a:srgbClr val="192C36"/>
                </a:solidFill>
                <a:latin typeface="Avenir Next"/>
                <a:ea typeface="Avenir Next"/>
                <a:cs typeface="Avenir Next"/>
              </a:defRPr>
            </a:lvl8pPr>
            <a:lvl9pPr algn="l">
              <a:defRPr sz="1500" b="1">
                <a:solidFill>
                  <a:srgbClr val="192C36"/>
                </a:solidFill>
                <a:latin typeface="Avenir Next"/>
                <a:ea typeface="Avenir Next"/>
                <a:cs typeface="Avenir Next"/>
              </a:defRPr>
            </a:lvl9pPr>
          </a:lstStyle>
          <a:p xmlns:a="http://schemas.openxmlformats.org/drawingml/2006/main">
            <a:pPr algn="l">
              <a:defRPr sz="1500" b="1">
                <a:solidFill>
                  <a:srgbClr val="192C36"/>
                </a:solidFill>
                <a:latin typeface="Avenir Next"/>
                <a:ea typeface="Avenir Next"/>
                <a:cs typeface="Avenir Next"/>
              </a:defRPr>
            </a:pPr>
            <a:r>
              <a:rPr sz="1500" b="1">
                <a:solidFill>
                  <a:srgbClr val="192C36"/>
                </a:solidFill>
                <a:latin typeface="Avenir Next"/>
                <a:ea typeface="Avenir Next"/>
                <a:cs typeface="Avenir Next"/>
              </a:rPr>
              <a:t>scikit-learn</a:t>
            </a:r>
          </a:p>
        </p:txBody>
      </p:sp>
      <p:sp>
        <p:nvSpPr>
          <p:cNvPr id="8" name="">
            <a:extLst xmlns:a="http://schemas.openxmlformats.org/drawingml/2006/main">
              <a:ext uri="{FF2B5EF4-FFF2-40B4-BE49-F238E27FC236}">
                <a16:creationId xmlns:a16="http://schemas.microsoft.com/office/drawing/2014/main" id="{9B7B3E1B-E643-4A09-8AE8-07149CC4F89E}"/>
              </a:ext>
            </a:extLst>
          </p:cNvPr>
          <p:cNvSpPr>
            <a:spLocks xmlns:a="http://schemas.openxmlformats.org/drawingml/2006/main" noGrp="1"/>
          </p:cNvSpPr>
          <p:nvPr/>
        </p:nvSpPr>
        <p:spPr>
          <a:xfrm xmlns:a="http://schemas.openxmlformats.org/drawingml/2006/main">
            <a:off x="3295650" y="291465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E6F75"/>
                </a:solidFill>
                <a:latin typeface="Avenir Next"/>
                <a:ea typeface="Avenir Next"/>
                <a:cs typeface="Avenir Next"/>
              </a:defRPr>
            </a:defPPr>
            <a:lvl1pPr algn="l">
              <a:defRPr sz="1350" b="0">
                <a:solidFill>
                  <a:srgbClr val="5E6F75"/>
                </a:solidFill>
                <a:latin typeface="Avenir Next"/>
                <a:ea typeface="Avenir Next"/>
                <a:cs typeface="Avenir Next"/>
              </a:defRPr>
            </a:lvl1pPr>
            <a:lvl2pPr algn="l">
              <a:defRPr sz="1350" b="0">
                <a:solidFill>
                  <a:srgbClr val="5E6F75"/>
                </a:solidFill>
                <a:latin typeface="Avenir Next"/>
                <a:ea typeface="Avenir Next"/>
                <a:cs typeface="Avenir Next"/>
              </a:defRPr>
            </a:lvl2pPr>
            <a:lvl3pPr algn="l">
              <a:defRPr sz="1350" b="0">
                <a:solidFill>
                  <a:srgbClr val="5E6F75"/>
                </a:solidFill>
                <a:latin typeface="Avenir Next"/>
                <a:ea typeface="Avenir Next"/>
                <a:cs typeface="Avenir Next"/>
              </a:defRPr>
            </a:lvl3pPr>
            <a:lvl4pPr algn="l">
              <a:defRPr sz="1350" b="0">
                <a:solidFill>
                  <a:srgbClr val="5E6F75"/>
                </a:solidFill>
                <a:latin typeface="Avenir Next"/>
                <a:ea typeface="Avenir Next"/>
                <a:cs typeface="Avenir Next"/>
              </a:defRPr>
            </a:lvl4pPr>
            <a:lvl5pPr algn="l">
              <a:defRPr sz="1350" b="0">
                <a:solidFill>
                  <a:srgbClr val="5E6F75"/>
                </a:solidFill>
                <a:latin typeface="Avenir Next"/>
                <a:ea typeface="Avenir Next"/>
                <a:cs typeface="Avenir Next"/>
              </a:defRPr>
            </a:lvl5pPr>
            <a:lvl6pPr algn="l">
              <a:defRPr sz="1350" b="0">
                <a:solidFill>
                  <a:srgbClr val="5E6F75"/>
                </a:solidFill>
                <a:latin typeface="Avenir Next"/>
                <a:ea typeface="Avenir Next"/>
                <a:cs typeface="Avenir Next"/>
              </a:defRPr>
            </a:lvl6pPr>
            <a:lvl7pPr algn="l">
              <a:defRPr sz="1350" b="0">
                <a:solidFill>
                  <a:srgbClr val="5E6F75"/>
                </a:solidFill>
                <a:latin typeface="Avenir Next"/>
                <a:ea typeface="Avenir Next"/>
                <a:cs typeface="Avenir Next"/>
              </a:defRPr>
            </a:lvl7pPr>
            <a:lvl8pPr algn="l">
              <a:defRPr sz="1350" b="0">
                <a:solidFill>
                  <a:srgbClr val="5E6F75"/>
                </a:solidFill>
                <a:latin typeface="Avenir Next"/>
                <a:ea typeface="Avenir Next"/>
                <a:cs typeface="Avenir Next"/>
              </a:defRPr>
            </a:lvl8pPr>
            <a:lvl9pPr algn="l">
              <a:defRPr sz="1350" b="0">
                <a:solidFill>
                  <a:srgbClr val="5E6F75"/>
                </a:solidFill>
                <a:latin typeface="Avenir Next"/>
                <a:ea typeface="Avenir Next"/>
                <a:cs typeface="Avenir Next"/>
              </a:defRPr>
            </a:lvl9pPr>
          </a:lstStyle>
          <a:p xmlns:a="http://schemas.openxmlformats.org/drawingml/2006/main">
            <a:pPr algn="l">
              <a:defRPr sz="1350" b="0">
                <a:solidFill>
                  <a:srgbClr val="5E6F75"/>
                </a:solidFill>
                <a:latin typeface="Avenir Next"/>
                <a:ea typeface="Avenir Next"/>
                <a:cs typeface="Avenir Next"/>
              </a:defRPr>
            </a:pPr>
            <a:r>
              <a:rPr sz="1350" b="0">
                <a:solidFill>
                  <a:srgbClr val="5E6F75"/>
                </a:solidFill>
                <a:latin typeface="Avenir Next"/>
                <a:ea typeface="Avenir Next"/>
                <a:cs typeface="Avenir Next"/>
              </a:rPr>
              <a:t>Transfer risk + scam type</a:t>
            </a:r>
          </a:p>
        </p:txBody>
      </p:sp>
      <p:sp>
        <p:nvSpPr>
          <p:cNvPr id="9" name="">
            <a:extLst xmlns:a="http://schemas.openxmlformats.org/drawingml/2006/main">
              <a:ext uri="{FF2B5EF4-FFF2-40B4-BE49-F238E27FC236}">
                <a16:creationId xmlns:a16="http://schemas.microsoft.com/office/drawing/2014/main" id="{11C4B380-5287-4318-87EB-09B3489B9A8F}"/>
              </a:ext>
            </a:extLst>
          </p:cNvPr>
          <p:cNvSpPr>
            <a:spLocks xmlns:a="http://schemas.openxmlformats.org/drawingml/2006/main" noGrp="1"/>
          </p:cNvSpPr>
          <p:nvPr/>
        </p:nvSpPr>
        <p:spPr>
          <a:xfrm xmlns:a="http://schemas.openxmlformats.org/drawingml/2006/main">
            <a:off x="866775" y="3448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92C36"/>
                </a:solidFill>
                <a:latin typeface="Avenir Next"/>
                <a:ea typeface="Avenir Next"/>
                <a:cs typeface="Avenir Next"/>
              </a:defRPr>
            </a:defPPr>
            <a:lvl1pPr algn="l">
              <a:defRPr sz="1500" b="1">
                <a:solidFill>
                  <a:srgbClr val="192C36"/>
                </a:solidFill>
                <a:latin typeface="Avenir Next"/>
                <a:ea typeface="Avenir Next"/>
                <a:cs typeface="Avenir Next"/>
              </a:defRPr>
            </a:lvl1pPr>
            <a:lvl2pPr algn="l">
              <a:defRPr sz="1500" b="1">
                <a:solidFill>
                  <a:srgbClr val="192C36"/>
                </a:solidFill>
                <a:latin typeface="Avenir Next"/>
                <a:ea typeface="Avenir Next"/>
                <a:cs typeface="Avenir Next"/>
              </a:defRPr>
            </a:lvl2pPr>
            <a:lvl3pPr algn="l">
              <a:defRPr sz="1500" b="1">
                <a:solidFill>
                  <a:srgbClr val="192C36"/>
                </a:solidFill>
                <a:latin typeface="Avenir Next"/>
                <a:ea typeface="Avenir Next"/>
                <a:cs typeface="Avenir Next"/>
              </a:defRPr>
            </a:lvl3pPr>
            <a:lvl4pPr algn="l">
              <a:defRPr sz="1500" b="1">
                <a:solidFill>
                  <a:srgbClr val="192C36"/>
                </a:solidFill>
                <a:latin typeface="Avenir Next"/>
                <a:ea typeface="Avenir Next"/>
                <a:cs typeface="Avenir Next"/>
              </a:defRPr>
            </a:lvl4pPr>
            <a:lvl5pPr algn="l">
              <a:defRPr sz="1500" b="1">
                <a:solidFill>
                  <a:srgbClr val="192C36"/>
                </a:solidFill>
                <a:latin typeface="Avenir Next"/>
                <a:ea typeface="Avenir Next"/>
                <a:cs typeface="Avenir Next"/>
              </a:defRPr>
            </a:lvl5pPr>
            <a:lvl6pPr algn="l">
              <a:defRPr sz="1500" b="1">
                <a:solidFill>
                  <a:srgbClr val="192C36"/>
                </a:solidFill>
                <a:latin typeface="Avenir Next"/>
                <a:ea typeface="Avenir Next"/>
                <a:cs typeface="Avenir Next"/>
              </a:defRPr>
            </a:lvl6pPr>
            <a:lvl7pPr algn="l">
              <a:defRPr sz="1500" b="1">
                <a:solidFill>
                  <a:srgbClr val="192C36"/>
                </a:solidFill>
                <a:latin typeface="Avenir Next"/>
                <a:ea typeface="Avenir Next"/>
                <a:cs typeface="Avenir Next"/>
              </a:defRPr>
            </a:lvl7pPr>
            <a:lvl8pPr algn="l">
              <a:defRPr sz="1500" b="1">
                <a:solidFill>
                  <a:srgbClr val="192C36"/>
                </a:solidFill>
                <a:latin typeface="Avenir Next"/>
                <a:ea typeface="Avenir Next"/>
                <a:cs typeface="Avenir Next"/>
              </a:defRPr>
            </a:lvl8pPr>
            <a:lvl9pPr algn="l">
              <a:defRPr sz="1500" b="1">
                <a:solidFill>
                  <a:srgbClr val="192C36"/>
                </a:solidFill>
                <a:latin typeface="Avenir Next"/>
                <a:ea typeface="Avenir Next"/>
                <a:cs typeface="Avenir Next"/>
              </a:defRPr>
            </a:lvl9pPr>
          </a:lstStyle>
          <a:p xmlns:a="http://schemas.openxmlformats.org/drawingml/2006/main">
            <a:pPr algn="l">
              <a:defRPr sz="1500" b="1">
                <a:solidFill>
                  <a:srgbClr val="192C36"/>
                </a:solidFill>
                <a:latin typeface="Avenir Next"/>
                <a:ea typeface="Avenir Next"/>
                <a:cs typeface="Avenir Next"/>
              </a:defRPr>
            </a:pPr>
            <a:r>
              <a:rPr sz="1500" b="1">
                <a:solidFill>
                  <a:srgbClr val="192C36"/>
                </a:solidFill>
                <a:latin typeface="Avenir Next"/>
                <a:ea typeface="Avenir Next"/>
                <a:cs typeface="Avenir Next"/>
              </a:rPr>
              <a:t>XGBoost</a:t>
            </a:r>
          </a:p>
        </p:txBody>
      </p:sp>
      <p:sp>
        <p:nvSpPr>
          <p:cNvPr id="10" name="">
            <a:extLst xmlns:a="http://schemas.openxmlformats.org/drawingml/2006/main">
              <a:ext uri="{FF2B5EF4-FFF2-40B4-BE49-F238E27FC236}">
                <a16:creationId xmlns:a16="http://schemas.microsoft.com/office/drawing/2014/main" id="{2822A822-0F56-4313-A15B-906FA7C93EA4}"/>
              </a:ext>
            </a:extLst>
          </p:cNvPr>
          <p:cNvSpPr>
            <a:spLocks xmlns:a="http://schemas.openxmlformats.org/drawingml/2006/main" noGrp="1"/>
          </p:cNvSpPr>
          <p:nvPr/>
        </p:nvSpPr>
        <p:spPr>
          <a:xfrm xmlns:a="http://schemas.openxmlformats.org/drawingml/2006/main">
            <a:off x="3295650" y="3448050"/>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E6F75"/>
                </a:solidFill>
                <a:latin typeface="Avenir Next"/>
                <a:ea typeface="Avenir Next"/>
                <a:cs typeface="Avenir Next"/>
              </a:defRPr>
            </a:defPPr>
            <a:lvl1pPr algn="l">
              <a:defRPr sz="1350" b="0">
                <a:solidFill>
                  <a:srgbClr val="5E6F75"/>
                </a:solidFill>
                <a:latin typeface="Avenir Next"/>
                <a:ea typeface="Avenir Next"/>
                <a:cs typeface="Avenir Next"/>
              </a:defRPr>
            </a:lvl1pPr>
            <a:lvl2pPr algn="l">
              <a:defRPr sz="1350" b="0">
                <a:solidFill>
                  <a:srgbClr val="5E6F75"/>
                </a:solidFill>
                <a:latin typeface="Avenir Next"/>
                <a:ea typeface="Avenir Next"/>
                <a:cs typeface="Avenir Next"/>
              </a:defRPr>
            </a:lvl2pPr>
            <a:lvl3pPr algn="l">
              <a:defRPr sz="1350" b="0">
                <a:solidFill>
                  <a:srgbClr val="5E6F75"/>
                </a:solidFill>
                <a:latin typeface="Avenir Next"/>
                <a:ea typeface="Avenir Next"/>
                <a:cs typeface="Avenir Next"/>
              </a:defRPr>
            </a:lvl3pPr>
            <a:lvl4pPr algn="l">
              <a:defRPr sz="1350" b="0">
                <a:solidFill>
                  <a:srgbClr val="5E6F75"/>
                </a:solidFill>
                <a:latin typeface="Avenir Next"/>
                <a:ea typeface="Avenir Next"/>
                <a:cs typeface="Avenir Next"/>
              </a:defRPr>
            </a:lvl4pPr>
            <a:lvl5pPr algn="l">
              <a:defRPr sz="1350" b="0">
                <a:solidFill>
                  <a:srgbClr val="5E6F75"/>
                </a:solidFill>
                <a:latin typeface="Avenir Next"/>
                <a:ea typeface="Avenir Next"/>
                <a:cs typeface="Avenir Next"/>
              </a:defRPr>
            </a:lvl5pPr>
            <a:lvl6pPr algn="l">
              <a:defRPr sz="1350" b="0">
                <a:solidFill>
                  <a:srgbClr val="5E6F75"/>
                </a:solidFill>
                <a:latin typeface="Avenir Next"/>
                <a:ea typeface="Avenir Next"/>
                <a:cs typeface="Avenir Next"/>
              </a:defRPr>
            </a:lvl6pPr>
            <a:lvl7pPr algn="l">
              <a:defRPr sz="1350" b="0">
                <a:solidFill>
                  <a:srgbClr val="5E6F75"/>
                </a:solidFill>
                <a:latin typeface="Avenir Next"/>
                <a:ea typeface="Avenir Next"/>
                <a:cs typeface="Avenir Next"/>
              </a:defRPr>
            </a:lvl7pPr>
            <a:lvl8pPr algn="l">
              <a:defRPr sz="1350" b="0">
                <a:solidFill>
                  <a:srgbClr val="5E6F75"/>
                </a:solidFill>
                <a:latin typeface="Avenir Next"/>
                <a:ea typeface="Avenir Next"/>
                <a:cs typeface="Avenir Next"/>
              </a:defRPr>
            </a:lvl8pPr>
            <a:lvl9pPr algn="l">
              <a:defRPr sz="1350" b="0">
                <a:solidFill>
                  <a:srgbClr val="5E6F75"/>
                </a:solidFill>
                <a:latin typeface="Avenir Next"/>
                <a:ea typeface="Avenir Next"/>
                <a:cs typeface="Avenir Next"/>
              </a:defRPr>
            </a:lvl9pPr>
          </a:lstStyle>
          <a:p xmlns:a="http://schemas.openxmlformats.org/drawingml/2006/main">
            <a:pPr algn="l">
              <a:defRPr sz="1350" b="0">
                <a:solidFill>
                  <a:srgbClr val="5E6F75"/>
                </a:solidFill>
                <a:latin typeface="Avenir Next"/>
                <a:ea typeface="Avenir Next"/>
                <a:cs typeface="Avenir Next"/>
              </a:defRPr>
            </a:pPr>
            <a:r>
              <a:rPr sz="1350" b="0">
                <a:solidFill>
                  <a:srgbClr val="5E6F75"/>
                </a:solidFill>
                <a:latin typeface="Avenir Next"/>
                <a:ea typeface="Avenir Next"/>
                <a:cs typeface="Avenir Next"/>
              </a:rPr>
              <a:t>Receiver-mule model</a:t>
            </a:r>
          </a:p>
        </p:txBody>
      </p:sp>
      <p:sp>
        <p:nvSpPr>
          <p:cNvPr id="11" name="">
            <a:extLst xmlns:a="http://schemas.openxmlformats.org/drawingml/2006/main">
              <a:ext uri="{FF2B5EF4-FFF2-40B4-BE49-F238E27FC236}">
                <a16:creationId xmlns:a16="http://schemas.microsoft.com/office/drawing/2014/main" id="{02BE2EF1-A3FB-4CC4-BFBD-33C898D17D8D}"/>
              </a:ext>
            </a:extLst>
          </p:cNvPr>
          <p:cNvSpPr>
            <a:spLocks xmlns:a="http://schemas.openxmlformats.org/drawingml/2006/main" noGrp="1"/>
          </p:cNvSpPr>
          <p:nvPr/>
        </p:nvSpPr>
        <p:spPr>
          <a:xfrm xmlns:a="http://schemas.openxmlformats.org/drawingml/2006/main">
            <a:off x="866775" y="39814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92C36"/>
                </a:solidFill>
                <a:latin typeface="Avenir Next"/>
                <a:ea typeface="Avenir Next"/>
                <a:cs typeface="Avenir Next"/>
              </a:defRPr>
            </a:defPPr>
            <a:lvl1pPr algn="l">
              <a:defRPr sz="1500" b="1">
                <a:solidFill>
                  <a:srgbClr val="192C36"/>
                </a:solidFill>
                <a:latin typeface="Avenir Next"/>
                <a:ea typeface="Avenir Next"/>
                <a:cs typeface="Avenir Next"/>
              </a:defRPr>
            </a:lvl1pPr>
            <a:lvl2pPr algn="l">
              <a:defRPr sz="1500" b="1">
                <a:solidFill>
                  <a:srgbClr val="192C36"/>
                </a:solidFill>
                <a:latin typeface="Avenir Next"/>
                <a:ea typeface="Avenir Next"/>
                <a:cs typeface="Avenir Next"/>
              </a:defRPr>
            </a:lvl2pPr>
            <a:lvl3pPr algn="l">
              <a:defRPr sz="1500" b="1">
                <a:solidFill>
                  <a:srgbClr val="192C36"/>
                </a:solidFill>
                <a:latin typeface="Avenir Next"/>
                <a:ea typeface="Avenir Next"/>
                <a:cs typeface="Avenir Next"/>
              </a:defRPr>
            </a:lvl3pPr>
            <a:lvl4pPr algn="l">
              <a:defRPr sz="1500" b="1">
                <a:solidFill>
                  <a:srgbClr val="192C36"/>
                </a:solidFill>
                <a:latin typeface="Avenir Next"/>
                <a:ea typeface="Avenir Next"/>
                <a:cs typeface="Avenir Next"/>
              </a:defRPr>
            </a:lvl4pPr>
            <a:lvl5pPr algn="l">
              <a:defRPr sz="1500" b="1">
                <a:solidFill>
                  <a:srgbClr val="192C36"/>
                </a:solidFill>
                <a:latin typeface="Avenir Next"/>
                <a:ea typeface="Avenir Next"/>
                <a:cs typeface="Avenir Next"/>
              </a:defRPr>
            </a:lvl5pPr>
            <a:lvl6pPr algn="l">
              <a:defRPr sz="1500" b="1">
                <a:solidFill>
                  <a:srgbClr val="192C36"/>
                </a:solidFill>
                <a:latin typeface="Avenir Next"/>
                <a:ea typeface="Avenir Next"/>
                <a:cs typeface="Avenir Next"/>
              </a:defRPr>
            </a:lvl6pPr>
            <a:lvl7pPr algn="l">
              <a:defRPr sz="1500" b="1">
                <a:solidFill>
                  <a:srgbClr val="192C36"/>
                </a:solidFill>
                <a:latin typeface="Avenir Next"/>
                <a:ea typeface="Avenir Next"/>
                <a:cs typeface="Avenir Next"/>
              </a:defRPr>
            </a:lvl7pPr>
            <a:lvl8pPr algn="l">
              <a:defRPr sz="1500" b="1">
                <a:solidFill>
                  <a:srgbClr val="192C36"/>
                </a:solidFill>
                <a:latin typeface="Avenir Next"/>
                <a:ea typeface="Avenir Next"/>
                <a:cs typeface="Avenir Next"/>
              </a:defRPr>
            </a:lvl8pPr>
            <a:lvl9pPr algn="l">
              <a:defRPr sz="1500" b="1">
                <a:solidFill>
                  <a:srgbClr val="192C36"/>
                </a:solidFill>
                <a:latin typeface="Avenir Next"/>
                <a:ea typeface="Avenir Next"/>
                <a:cs typeface="Avenir Next"/>
              </a:defRPr>
            </a:lvl9pPr>
          </a:lstStyle>
          <a:p xmlns:a="http://schemas.openxmlformats.org/drawingml/2006/main">
            <a:pPr algn="l">
              <a:defRPr sz="1500" b="1">
                <a:solidFill>
                  <a:srgbClr val="192C36"/>
                </a:solidFill>
                <a:latin typeface="Avenir Next"/>
                <a:ea typeface="Avenir Next"/>
                <a:cs typeface="Avenir Next"/>
              </a:defRPr>
            </a:pPr>
            <a:r>
              <a:rPr sz="1500" b="1">
                <a:solidFill>
                  <a:srgbClr val="192C36"/>
                </a:solidFill>
                <a:latin typeface="Avenir Next"/>
                <a:ea typeface="Avenir Next"/>
                <a:cs typeface="Avenir Next"/>
              </a:rPr>
              <a:t>FastAPI + NumPy</a:t>
            </a:r>
          </a:p>
        </p:txBody>
      </p:sp>
      <p:sp>
        <p:nvSpPr>
          <p:cNvPr id="12" name="">
            <a:extLst xmlns:a="http://schemas.openxmlformats.org/drawingml/2006/main">
              <a:ext uri="{FF2B5EF4-FFF2-40B4-BE49-F238E27FC236}">
                <a16:creationId xmlns:a16="http://schemas.microsoft.com/office/drawing/2014/main" id="{BB5284E7-6C19-4545-830A-3BA7EA59E4E5}"/>
              </a:ext>
            </a:extLst>
          </p:cNvPr>
          <p:cNvSpPr>
            <a:spLocks xmlns:a="http://schemas.openxmlformats.org/drawingml/2006/main" noGrp="1"/>
          </p:cNvSpPr>
          <p:nvPr/>
        </p:nvSpPr>
        <p:spPr>
          <a:xfrm xmlns:a="http://schemas.openxmlformats.org/drawingml/2006/main">
            <a:off x="3295650" y="398145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E6F75"/>
                </a:solidFill>
                <a:latin typeface="Avenir Next"/>
                <a:ea typeface="Avenir Next"/>
                <a:cs typeface="Avenir Next"/>
              </a:defRPr>
            </a:defPPr>
            <a:lvl1pPr algn="l">
              <a:defRPr sz="1350" b="0">
                <a:solidFill>
                  <a:srgbClr val="5E6F75"/>
                </a:solidFill>
                <a:latin typeface="Avenir Next"/>
                <a:ea typeface="Avenir Next"/>
                <a:cs typeface="Avenir Next"/>
              </a:defRPr>
            </a:lvl1pPr>
            <a:lvl2pPr algn="l">
              <a:defRPr sz="1350" b="0">
                <a:solidFill>
                  <a:srgbClr val="5E6F75"/>
                </a:solidFill>
                <a:latin typeface="Avenir Next"/>
                <a:ea typeface="Avenir Next"/>
                <a:cs typeface="Avenir Next"/>
              </a:defRPr>
            </a:lvl2pPr>
            <a:lvl3pPr algn="l">
              <a:defRPr sz="1350" b="0">
                <a:solidFill>
                  <a:srgbClr val="5E6F75"/>
                </a:solidFill>
                <a:latin typeface="Avenir Next"/>
                <a:ea typeface="Avenir Next"/>
                <a:cs typeface="Avenir Next"/>
              </a:defRPr>
            </a:lvl3pPr>
            <a:lvl4pPr algn="l">
              <a:defRPr sz="1350" b="0">
                <a:solidFill>
                  <a:srgbClr val="5E6F75"/>
                </a:solidFill>
                <a:latin typeface="Avenir Next"/>
                <a:ea typeface="Avenir Next"/>
                <a:cs typeface="Avenir Next"/>
              </a:defRPr>
            </a:lvl4pPr>
            <a:lvl5pPr algn="l">
              <a:defRPr sz="1350" b="0">
                <a:solidFill>
                  <a:srgbClr val="5E6F75"/>
                </a:solidFill>
                <a:latin typeface="Avenir Next"/>
                <a:ea typeface="Avenir Next"/>
                <a:cs typeface="Avenir Next"/>
              </a:defRPr>
            </a:lvl5pPr>
            <a:lvl6pPr algn="l">
              <a:defRPr sz="1350" b="0">
                <a:solidFill>
                  <a:srgbClr val="5E6F75"/>
                </a:solidFill>
                <a:latin typeface="Avenir Next"/>
                <a:ea typeface="Avenir Next"/>
                <a:cs typeface="Avenir Next"/>
              </a:defRPr>
            </a:lvl6pPr>
            <a:lvl7pPr algn="l">
              <a:defRPr sz="1350" b="0">
                <a:solidFill>
                  <a:srgbClr val="5E6F75"/>
                </a:solidFill>
                <a:latin typeface="Avenir Next"/>
                <a:ea typeface="Avenir Next"/>
                <a:cs typeface="Avenir Next"/>
              </a:defRPr>
            </a:lvl7pPr>
            <a:lvl8pPr algn="l">
              <a:defRPr sz="1350" b="0">
                <a:solidFill>
                  <a:srgbClr val="5E6F75"/>
                </a:solidFill>
                <a:latin typeface="Avenir Next"/>
                <a:ea typeface="Avenir Next"/>
                <a:cs typeface="Avenir Next"/>
              </a:defRPr>
            </a:lvl8pPr>
            <a:lvl9pPr algn="l">
              <a:defRPr sz="1350" b="0">
                <a:solidFill>
                  <a:srgbClr val="5E6F75"/>
                </a:solidFill>
                <a:latin typeface="Avenir Next"/>
                <a:ea typeface="Avenir Next"/>
                <a:cs typeface="Avenir Next"/>
              </a:defRPr>
            </a:lvl9pPr>
          </a:lstStyle>
          <a:p xmlns:a="http://schemas.openxmlformats.org/drawingml/2006/main">
            <a:pPr algn="l">
              <a:defRPr sz="1350" b="0">
                <a:solidFill>
                  <a:srgbClr val="5E6F75"/>
                </a:solidFill>
                <a:latin typeface="Avenir Next"/>
                <a:ea typeface="Avenir Next"/>
                <a:cs typeface="Avenir Next"/>
              </a:defRPr>
            </a:pPr>
            <a:r>
              <a:rPr sz="1350" b="0">
                <a:solidFill>
                  <a:srgbClr val="5E6F75"/>
                </a:solidFill>
                <a:latin typeface="Avenir Next"/>
                <a:ea typeface="Avenir Next"/>
                <a:cs typeface="Avenir Next"/>
              </a:rPr>
              <a:t>Low-latency scoring service</a:t>
            </a:r>
          </a:p>
        </p:txBody>
      </p:sp>
      <p:sp>
        <p:nvSpPr>
          <p:cNvPr id="13" name="">
            <a:extLst xmlns:a="http://schemas.openxmlformats.org/drawingml/2006/main">
              <a:ext uri="{FF2B5EF4-FFF2-40B4-BE49-F238E27FC236}">
                <a16:creationId xmlns:a16="http://schemas.microsoft.com/office/drawing/2014/main" id="{30D990C0-1E8C-47D3-A085-A081412F4AD0}"/>
              </a:ext>
            </a:extLst>
          </p:cNvPr>
          <p:cNvSpPr>
            <a:spLocks xmlns:a="http://schemas.openxmlformats.org/drawingml/2006/main" noGrp="1"/>
          </p:cNvSpPr>
          <p:nvPr/>
        </p:nvSpPr>
        <p:spPr>
          <a:xfrm xmlns:a="http://schemas.openxmlformats.org/drawingml/2006/main">
            <a:off x="866775" y="45148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B4553C"/>
                </a:solidFill>
                <a:latin typeface="Avenir Next"/>
                <a:ea typeface="Avenir Next"/>
                <a:cs typeface="Avenir Next"/>
              </a:defRPr>
            </a:defPPr>
            <a:lvl1pPr algn="l">
              <a:defRPr sz="1050" b="1">
                <a:solidFill>
                  <a:srgbClr val="B4553C"/>
                </a:solidFill>
                <a:latin typeface="Avenir Next"/>
                <a:ea typeface="Avenir Next"/>
                <a:cs typeface="Avenir Next"/>
              </a:defRPr>
            </a:lvl1pPr>
            <a:lvl2pPr algn="l">
              <a:defRPr sz="1050" b="1">
                <a:solidFill>
                  <a:srgbClr val="B4553C"/>
                </a:solidFill>
                <a:latin typeface="Avenir Next"/>
                <a:ea typeface="Avenir Next"/>
                <a:cs typeface="Avenir Next"/>
              </a:defRPr>
            </a:lvl2pPr>
            <a:lvl3pPr algn="l">
              <a:defRPr sz="1050" b="1">
                <a:solidFill>
                  <a:srgbClr val="B4553C"/>
                </a:solidFill>
                <a:latin typeface="Avenir Next"/>
                <a:ea typeface="Avenir Next"/>
                <a:cs typeface="Avenir Next"/>
              </a:defRPr>
            </a:lvl3pPr>
            <a:lvl4pPr algn="l">
              <a:defRPr sz="1050" b="1">
                <a:solidFill>
                  <a:srgbClr val="B4553C"/>
                </a:solidFill>
                <a:latin typeface="Avenir Next"/>
                <a:ea typeface="Avenir Next"/>
                <a:cs typeface="Avenir Next"/>
              </a:defRPr>
            </a:lvl4pPr>
            <a:lvl5pPr algn="l">
              <a:defRPr sz="1050" b="1">
                <a:solidFill>
                  <a:srgbClr val="B4553C"/>
                </a:solidFill>
                <a:latin typeface="Avenir Next"/>
                <a:ea typeface="Avenir Next"/>
                <a:cs typeface="Avenir Next"/>
              </a:defRPr>
            </a:lvl5pPr>
            <a:lvl6pPr algn="l">
              <a:defRPr sz="1050" b="1">
                <a:solidFill>
                  <a:srgbClr val="B4553C"/>
                </a:solidFill>
                <a:latin typeface="Avenir Next"/>
                <a:ea typeface="Avenir Next"/>
                <a:cs typeface="Avenir Next"/>
              </a:defRPr>
            </a:lvl6pPr>
            <a:lvl7pPr algn="l">
              <a:defRPr sz="1050" b="1">
                <a:solidFill>
                  <a:srgbClr val="B4553C"/>
                </a:solidFill>
                <a:latin typeface="Avenir Next"/>
                <a:ea typeface="Avenir Next"/>
                <a:cs typeface="Avenir Next"/>
              </a:defRPr>
            </a:lvl7pPr>
            <a:lvl8pPr algn="l">
              <a:defRPr sz="1050" b="1">
                <a:solidFill>
                  <a:srgbClr val="B4553C"/>
                </a:solidFill>
                <a:latin typeface="Avenir Next"/>
                <a:ea typeface="Avenir Next"/>
                <a:cs typeface="Avenir Next"/>
              </a:defRPr>
            </a:lvl8pPr>
            <a:lvl9pPr algn="l">
              <a:defRPr sz="1050" b="1">
                <a:solidFill>
                  <a:srgbClr val="B4553C"/>
                </a:solidFill>
                <a:latin typeface="Avenir Next"/>
                <a:ea typeface="Avenir Next"/>
                <a:cs typeface="Avenir Next"/>
              </a:defRPr>
            </a:lvl9pPr>
          </a:lstStyle>
          <a:p xmlns:a="http://schemas.openxmlformats.org/drawingml/2006/main">
            <a:pPr algn="l">
              <a:defRPr sz="1050" b="1">
                <a:solidFill>
                  <a:srgbClr val="B4553C"/>
                </a:solidFill>
                <a:latin typeface="Avenir Next"/>
                <a:ea typeface="Avenir Next"/>
                <a:cs typeface="Avenir Next"/>
              </a:defRPr>
            </a:pPr>
            <a:r>
              <a:rPr sz="1050" b="1">
                <a:solidFill>
                  <a:srgbClr val="B4553C"/>
                </a:solidFill>
                <a:latin typeface="Avenir Next"/>
                <a:ea typeface="Avenir Next"/>
                <a:cs typeface="Avenir Next"/>
              </a:rPr>
              <a:t>ASYNC CASE NOTES</a:t>
            </a:r>
          </a:p>
        </p:txBody>
      </p:sp>
      <p:sp>
        <p:nvSpPr>
          <p:cNvPr id="14" name="">
            <a:extLst xmlns:a="http://schemas.openxmlformats.org/drawingml/2006/main">
              <a:ext uri="{FF2B5EF4-FFF2-40B4-BE49-F238E27FC236}">
                <a16:creationId xmlns:a16="http://schemas.microsoft.com/office/drawing/2014/main" id="{F14CC99E-CA76-4CD0-A8BB-1211BDA8C47E}"/>
              </a:ext>
            </a:extLst>
          </p:cNvPr>
          <p:cNvSpPr>
            <a:spLocks xmlns:a="http://schemas.openxmlformats.org/drawingml/2006/main" noGrp="1"/>
          </p:cNvSpPr>
          <p:nvPr/>
        </p:nvSpPr>
        <p:spPr>
          <a:xfrm xmlns:a="http://schemas.openxmlformats.org/drawingml/2006/main">
            <a:off x="3295650" y="4486275"/>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E6F75"/>
                </a:solidFill>
                <a:latin typeface="Avenir Next"/>
                <a:ea typeface="Avenir Next"/>
                <a:cs typeface="Avenir Next"/>
              </a:defRPr>
            </a:defPPr>
            <a:lvl1pPr algn="l">
              <a:defRPr sz="1200" b="0">
                <a:solidFill>
                  <a:srgbClr val="5E6F75"/>
                </a:solidFill>
                <a:latin typeface="Avenir Next"/>
                <a:ea typeface="Avenir Next"/>
                <a:cs typeface="Avenir Next"/>
              </a:defRPr>
            </a:lvl1pPr>
            <a:lvl2pPr algn="l">
              <a:defRPr sz="1200" b="0">
                <a:solidFill>
                  <a:srgbClr val="5E6F75"/>
                </a:solidFill>
                <a:latin typeface="Avenir Next"/>
                <a:ea typeface="Avenir Next"/>
                <a:cs typeface="Avenir Next"/>
              </a:defRPr>
            </a:lvl2pPr>
            <a:lvl3pPr algn="l">
              <a:defRPr sz="1200" b="0">
                <a:solidFill>
                  <a:srgbClr val="5E6F75"/>
                </a:solidFill>
                <a:latin typeface="Avenir Next"/>
                <a:ea typeface="Avenir Next"/>
                <a:cs typeface="Avenir Next"/>
              </a:defRPr>
            </a:lvl3pPr>
            <a:lvl4pPr algn="l">
              <a:defRPr sz="1200" b="0">
                <a:solidFill>
                  <a:srgbClr val="5E6F75"/>
                </a:solidFill>
                <a:latin typeface="Avenir Next"/>
                <a:ea typeface="Avenir Next"/>
                <a:cs typeface="Avenir Next"/>
              </a:defRPr>
            </a:lvl4pPr>
            <a:lvl5pPr algn="l">
              <a:defRPr sz="1200" b="0">
                <a:solidFill>
                  <a:srgbClr val="5E6F75"/>
                </a:solidFill>
                <a:latin typeface="Avenir Next"/>
                <a:ea typeface="Avenir Next"/>
                <a:cs typeface="Avenir Next"/>
              </a:defRPr>
            </a:lvl5pPr>
            <a:lvl6pPr algn="l">
              <a:defRPr sz="1200" b="0">
                <a:solidFill>
                  <a:srgbClr val="5E6F75"/>
                </a:solidFill>
                <a:latin typeface="Avenir Next"/>
                <a:ea typeface="Avenir Next"/>
                <a:cs typeface="Avenir Next"/>
              </a:defRPr>
            </a:lvl6pPr>
            <a:lvl7pPr algn="l">
              <a:defRPr sz="1200" b="0">
                <a:solidFill>
                  <a:srgbClr val="5E6F75"/>
                </a:solidFill>
                <a:latin typeface="Avenir Next"/>
                <a:ea typeface="Avenir Next"/>
                <a:cs typeface="Avenir Next"/>
              </a:defRPr>
            </a:lvl7pPr>
            <a:lvl8pPr algn="l">
              <a:defRPr sz="1200" b="0">
                <a:solidFill>
                  <a:srgbClr val="5E6F75"/>
                </a:solidFill>
                <a:latin typeface="Avenir Next"/>
                <a:ea typeface="Avenir Next"/>
                <a:cs typeface="Avenir Next"/>
              </a:defRPr>
            </a:lvl8pPr>
            <a:lvl9pPr algn="l">
              <a:defRPr sz="1200" b="0">
                <a:solidFill>
                  <a:srgbClr val="5E6F75"/>
                </a:solidFill>
                <a:latin typeface="Avenir Next"/>
                <a:ea typeface="Avenir Next"/>
                <a:cs typeface="Avenir Next"/>
              </a:defRPr>
            </a:lvl9pPr>
          </a:lstStyle>
          <a:p xmlns:a="http://schemas.openxmlformats.org/drawingml/2006/main">
            <a:pPr algn="l">
              <a:defRPr sz="1200" b="0">
                <a:solidFill>
                  <a:srgbClr val="5E6F75"/>
                </a:solidFill>
                <a:latin typeface="Avenir Next"/>
                <a:ea typeface="Avenir Next"/>
                <a:cs typeface="Avenir Next"/>
              </a:defRPr>
            </a:pPr>
            <a:r>
              <a:rPr sz="1200" b="0">
                <a:solidFill>
                  <a:srgbClr val="5E6F75"/>
                </a:solidFill>
                <a:latin typeface="Avenir Next"/>
                <a:ea typeface="Avenir Next"/>
                <a:cs typeface="Avenir Next"/>
              </a:rPr>
              <a:t>Granite is optional; template is the current default.</a:t>
            </a:r>
          </a:p>
        </p:txBody>
      </p:sp>
      <p:sp>
        <p:nvSpPr>
          <p:cNvPr id="15" name="">
            <a:extLst xmlns:a="http://schemas.openxmlformats.org/drawingml/2006/main">
              <a:ext uri="{FF2B5EF4-FFF2-40B4-BE49-F238E27FC236}">
                <a16:creationId xmlns:a16="http://schemas.microsoft.com/office/drawing/2014/main" id="{9845EDAF-6639-4D7F-A4D1-A87F589D8B1B}"/>
              </a:ext>
            </a:extLst>
          </p:cNvPr>
          <p:cNvSpPr>
            <a:spLocks xmlns:a="http://schemas.openxmlformats.org/drawingml/2006/main" noGrp="1"/>
          </p:cNvSpPr>
          <p:nvPr/>
        </p:nvSpPr>
        <p:spPr>
          <a:xfrm xmlns:a="http://schemas.openxmlformats.org/drawingml/2006/main">
            <a:off x="8572500" y="2733675"/>
            <a:ext cx="14288" cy="2381250"/>
          </a:xfrm>
          <a:prstGeom xmlns:a="http://schemas.openxmlformats.org/drawingml/2006/main" prst="rect">
            <a:avLst/>
          </a:prstGeom>
          <a:solidFill xmlns:a="http://schemas.openxmlformats.org/drawingml/2006/main">
            <a:srgbClr val="C9D2C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286BB2D-6834-4E08-A765-837D1B173E33}"/>
              </a:ext>
            </a:extLst>
          </p:cNvPr>
          <p:cNvSpPr>
            <a:spLocks xmlns:a="http://schemas.openxmlformats.org/drawingml/2006/main" noGrp="1"/>
          </p:cNvSpPr>
          <p:nvPr/>
        </p:nvSpPr>
        <p:spPr>
          <a:xfrm xmlns:a="http://schemas.openxmlformats.org/drawingml/2006/main">
            <a:off x="8953500" y="3105150"/>
            <a:ext cx="24765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550" b="1">
                <a:solidFill>
                  <a:srgbClr val="1D716F"/>
                </a:solidFill>
                <a:latin typeface="Avenir Next"/>
                <a:ea typeface="Avenir Next"/>
                <a:cs typeface="Avenir Next"/>
              </a:defRPr>
            </a:defPPr>
            <a:lvl1pPr algn="l">
              <a:defRPr sz="2550" b="1">
                <a:solidFill>
                  <a:srgbClr val="1D716F"/>
                </a:solidFill>
                <a:latin typeface="Avenir Next"/>
                <a:ea typeface="Avenir Next"/>
                <a:cs typeface="Avenir Next"/>
              </a:defRPr>
            </a:lvl1pPr>
            <a:lvl2pPr algn="l">
              <a:defRPr sz="2550" b="1">
                <a:solidFill>
                  <a:srgbClr val="1D716F"/>
                </a:solidFill>
                <a:latin typeface="Avenir Next"/>
                <a:ea typeface="Avenir Next"/>
                <a:cs typeface="Avenir Next"/>
              </a:defRPr>
            </a:lvl2pPr>
            <a:lvl3pPr algn="l">
              <a:defRPr sz="2550" b="1">
                <a:solidFill>
                  <a:srgbClr val="1D716F"/>
                </a:solidFill>
                <a:latin typeface="Avenir Next"/>
                <a:ea typeface="Avenir Next"/>
                <a:cs typeface="Avenir Next"/>
              </a:defRPr>
            </a:lvl3pPr>
            <a:lvl4pPr algn="l">
              <a:defRPr sz="2550" b="1">
                <a:solidFill>
                  <a:srgbClr val="1D716F"/>
                </a:solidFill>
                <a:latin typeface="Avenir Next"/>
                <a:ea typeface="Avenir Next"/>
                <a:cs typeface="Avenir Next"/>
              </a:defRPr>
            </a:lvl4pPr>
            <a:lvl5pPr algn="l">
              <a:defRPr sz="2550" b="1">
                <a:solidFill>
                  <a:srgbClr val="1D716F"/>
                </a:solidFill>
                <a:latin typeface="Avenir Next"/>
                <a:ea typeface="Avenir Next"/>
                <a:cs typeface="Avenir Next"/>
              </a:defRPr>
            </a:lvl5pPr>
            <a:lvl6pPr algn="l">
              <a:defRPr sz="2550" b="1">
                <a:solidFill>
                  <a:srgbClr val="1D716F"/>
                </a:solidFill>
                <a:latin typeface="Avenir Next"/>
                <a:ea typeface="Avenir Next"/>
                <a:cs typeface="Avenir Next"/>
              </a:defRPr>
            </a:lvl6pPr>
            <a:lvl7pPr algn="l">
              <a:defRPr sz="2550" b="1">
                <a:solidFill>
                  <a:srgbClr val="1D716F"/>
                </a:solidFill>
                <a:latin typeface="Avenir Next"/>
                <a:ea typeface="Avenir Next"/>
                <a:cs typeface="Avenir Next"/>
              </a:defRPr>
            </a:lvl7pPr>
            <a:lvl8pPr algn="l">
              <a:defRPr sz="2550" b="1">
                <a:solidFill>
                  <a:srgbClr val="1D716F"/>
                </a:solidFill>
                <a:latin typeface="Avenir Next"/>
                <a:ea typeface="Avenir Next"/>
                <a:cs typeface="Avenir Next"/>
              </a:defRPr>
            </a:lvl8pPr>
            <a:lvl9pPr algn="l">
              <a:defRPr sz="2550" b="1">
                <a:solidFill>
                  <a:srgbClr val="1D716F"/>
                </a:solidFill>
                <a:latin typeface="Avenir Next"/>
                <a:ea typeface="Avenir Next"/>
                <a:cs typeface="Avenir Next"/>
              </a:defRPr>
            </a:lvl9pPr>
          </a:lstStyle>
          <a:p xmlns:a="http://schemas.openxmlformats.org/drawingml/2006/main">
            <a:pPr algn="l">
              <a:defRPr sz="2550" b="1">
                <a:solidFill>
                  <a:srgbClr val="1D716F"/>
                </a:solidFill>
                <a:latin typeface="Avenir Next"/>
                <a:ea typeface="Avenir Next"/>
                <a:cs typeface="Avenir Next"/>
              </a:defRPr>
            </a:pPr>
            <a:r>
              <a:rPr sz="2550" b="1">
                <a:solidFill>
                  <a:srgbClr val="1D716F"/>
                </a:solidFill>
                <a:latin typeface="Avenir Next"/>
                <a:ea typeface="Avenir Next"/>
                <a:cs typeface="Avenir Next"/>
              </a:rPr>
              <a:t>25.22 ms</a:t>
            </a:r>
          </a:p>
        </p:txBody>
      </p:sp>
      <p:sp>
        <p:nvSpPr>
          <p:cNvPr id="17" name="">
            <a:extLst xmlns:a="http://schemas.openxmlformats.org/drawingml/2006/main">
              <a:ext uri="{FF2B5EF4-FFF2-40B4-BE49-F238E27FC236}">
                <a16:creationId xmlns:a16="http://schemas.microsoft.com/office/drawing/2014/main" id="{59EF6D9E-4A0F-4316-B3D1-E1D6AD6C84C9}"/>
              </a:ext>
            </a:extLst>
          </p:cNvPr>
          <p:cNvSpPr>
            <a:spLocks xmlns:a="http://schemas.openxmlformats.org/drawingml/2006/main" noGrp="1"/>
          </p:cNvSpPr>
          <p:nvPr/>
        </p:nvSpPr>
        <p:spPr>
          <a:xfrm xmlns:a="http://schemas.openxmlformats.org/drawingml/2006/main">
            <a:off x="8972550" y="3686175"/>
            <a:ext cx="2571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E6F75"/>
                </a:solidFill>
                <a:latin typeface="Avenir Next"/>
                <a:ea typeface="Avenir Next"/>
                <a:cs typeface="Avenir Next"/>
              </a:defRPr>
            </a:defPPr>
            <a:lvl1pPr algn="l">
              <a:defRPr sz="1200" b="0">
                <a:solidFill>
                  <a:srgbClr val="5E6F75"/>
                </a:solidFill>
                <a:latin typeface="Avenir Next"/>
                <a:ea typeface="Avenir Next"/>
                <a:cs typeface="Avenir Next"/>
              </a:defRPr>
            </a:lvl1pPr>
            <a:lvl2pPr algn="l">
              <a:defRPr sz="1200" b="0">
                <a:solidFill>
                  <a:srgbClr val="5E6F75"/>
                </a:solidFill>
                <a:latin typeface="Avenir Next"/>
                <a:ea typeface="Avenir Next"/>
                <a:cs typeface="Avenir Next"/>
              </a:defRPr>
            </a:lvl2pPr>
            <a:lvl3pPr algn="l">
              <a:defRPr sz="1200" b="0">
                <a:solidFill>
                  <a:srgbClr val="5E6F75"/>
                </a:solidFill>
                <a:latin typeface="Avenir Next"/>
                <a:ea typeface="Avenir Next"/>
                <a:cs typeface="Avenir Next"/>
              </a:defRPr>
            </a:lvl3pPr>
            <a:lvl4pPr algn="l">
              <a:defRPr sz="1200" b="0">
                <a:solidFill>
                  <a:srgbClr val="5E6F75"/>
                </a:solidFill>
                <a:latin typeface="Avenir Next"/>
                <a:ea typeface="Avenir Next"/>
                <a:cs typeface="Avenir Next"/>
              </a:defRPr>
            </a:lvl4pPr>
            <a:lvl5pPr algn="l">
              <a:defRPr sz="1200" b="0">
                <a:solidFill>
                  <a:srgbClr val="5E6F75"/>
                </a:solidFill>
                <a:latin typeface="Avenir Next"/>
                <a:ea typeface="Avenir Next"/>
                <a:cs typeface="Avenir Next"/>
              </a:defRPr>
            </a:lvl5pPr>
            <a:lvl6pPr algn="l">
              <a:defRPr sz="1200" b="0">
                <a:solidFill>
                  <a:srgbClr val="5E6F75"/>
                </a:solidFill>
                <a:latin typeface="Avenir Next"/>
                <a:ea typeface="Avenir Next"/>
                <a:cs typeface="Avenir Next"/>
              </a:defRPr>
            </a:lvl6pPr>
            <a:lvl7pPr algn="l">
              <a:defRPr sz="1200" b="0">
                <a:solidFill>
                  <a:srgbClr val="5E6F75"/>
                </a:solidFill>
                <a:latin typeface="Avenir Next"/>
                <a:ea typeface="Avenir Next"/>
                <a:cs typeface="Avenir Next"/>
              </a:defRPr>
            </a:lvl7pPr>
            <a:lvl8pPr algn="l">
              <a:defRPr sz="1200" b="0">
                <a:solidFill>
                  <a:srgbClr val="5E6F75"/>
                </a:solidFill>
                <a:latin typeface="Avenir Next"/>
                <a:ea typeface="Avenir Next"/>
                <a:cs typeface="Avenir Next"/>
              </a:defRPr>
            </a:lvl8pPr>
            <a:lvl9pPr algn="l">
              <a:defRPr sz="1200" b="0">
                <a:solidFill>
                  <a:srgbClr val="5E6F75"/>
                </a:solidFill>
                <a:latin typeface="Avenir Next"/>
                <a:ea typeface="Avenir Next"/>
                <a:cs typeface="Avenir Next"/>
              </a:defRPr>
            </a:lvl9pPr>
          </a:lstStyle>
          <a:p xmlns:a="http://schemas.openxmlformats.org/drawingml/2006/main">
            <a:pPr algn="l">
              <a:defRPr sz="1200" b="0">
                <a:solidFill>
                  <a:srgbClr val="5E6F75"/>
                </a:solidFill>
                <a:latin typeface="Avenir Next"/>
                <a:ea typeface="Avenir Next"/>
                <a:cs typeface="Avenir Next"/>
              </a:defRPr>
            </a:pPr>
            <a:r>
              <a:rPr sz="1200" b="0">
                <a:solidFill>
                  <a:srgbClr val="5E6F75"/>
                </a:solidFill>
                <a:latin typeface="Avenir Next"/>
                <a:ea typeface="Avenir Next"/>
                <a:cs typeface="Avenir Next"/>
              </a:rPr>
              <a:t>LinuxONE server p99</a:t>
            </a:r>
          </a:p>
        </p:txBody>
      </p:sp>
      <p:sp>
        <p:nvSpPr>
          <p:cNvPr id="18" name="">
            <a:extLst xmlns:a="http://schemas.openxmlformats.org/drawingml/2006/main">
              <a:ext uri="{FF2B5EF4-FFF2-40B4-BE49-F238E27FC236}">
                <a16:creationId xmlns:a16="http://schemas.microsoft.com/office/drawing/2014/main" id="{75DEA3DD-40F3-449A-BC12-1B0C6CE3CE76}"/>
              </a:ext>
            </a:extLst>
          </p:cNvPr>
          <p:cNvSpPr>
            <a:spLocks xmlns:a="http://schemas.openxmlformats.org/drawingml/2006/main" noGrp="1"/>
          </p:cNvSpPr>
          <p:nvPr/>
        </p:nvSpPr>
        <p:spPr>
          <a:xfrm xmlns:a="http://schemas.openxmlformats.org/drawingml/2006/main">
            <a:off x="8972550" y="4105275"/>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192C36"/>
                </a:solidFill>
                <a:latin typeface="Avenir Next"/>
                <a:ea typeface="Avenir Next"/>
                <a:cs typeface="Avenir Next"/>
              </a:defRPr>
            </a:defPPr>
            <a:lvl1pPr algn="l">
              <a:defRPr sz="1200" b="0">
                <a:solidFill>
                  <a:srgbClr val="192C36"/>
                </a:solidFill>
                <a:latin typeface="Avenir Next"/>
                <a:ea typeface="Avenir Next"/>
                <a:cs typeface="Avenir Next"/>
              </a:defRPr>
            </a:lvl1pPr>
            <a:lvl2pPr algn="l">
              <a:defRPr sz="1200" b="0">
                <a:solidFill>
                  <a:srgbClr val="192C36"/>
                </a:solidFill>
                <a:latin typeface="Avenir Next"/>
                <a:ea typeface="Avenir Next"/>
                <a:cs typeface="Avenir Next"/>
              </a:defRPr>
            </a:lvl2pPr>
            <a:lvl3pPr algn="l">
              <a:defRPr sz="1200" b="0">
                <a:solidFill>
                  <a:srgbClr val="192C36"/>
                </a:solidFill>
                <a:latin typeface="Avenir Next"/>
                <a:ea typeface="Avenir Next"/>
                <a:cs typeface="Avenir Next"/>
              </a:defRPr>
            </a:lvl3pPr>
            <a:lvl4pPr algn="l">
              <a:defRPr sz="1200" b="0">
                <a:solidFill>
                  <a:srgbClr val="192C36"/>
                </a:solidFill>
                <a:latin typeface="Avenir Next"/>
                <a:ea typeface="Avenir Next"/>
                <a:cs typeface="Avenir Next"/>
              </a:defRPr>
            </a:lvl4pPr>
            <a:lvl5pPr algn="l">
              <a:defRPr sz="1200" b="0">
                <a:solidFill>
                  <a:srgbClr val="192C36"/>
                </a:solidFill>
                <a:latin typeface="Avenir Next"/>
                <a:ea typeface="Avenir Next"/>
                <a:cs typeface="Avenir Next"/>
              </a:defRPr>
            </a:lvl5pPr>
            <a:lvl6pPr algn="l">
              <a:defRPr sz="1200" b="0">
                <a:solidFill>
                  <a:srgbClr val="192C36"/>
                </a:solidFill>
                <a:latin typeface="Avenir Next"/>
                <a:ea typeface="Avenir Next"/>
                <a:cs typeface="Avenir Next"/>
              </a:defRPr>
            </a:lvl6pPr>
            <a:lvl7pPr algn="l">
              <a:defRPr sz="1200" b="0">
                <a:solidFill>
                  <a:srgbClr val="192C36"/>
                </a:solidFill>
                <a:latin typeface="Avenir Next"/>
                <a:ea typeface="Avenir Next"/>
                <a:cs typeface="Avenir Next"/>
              </a:defRPr>
            </a:lvl7pPr>
            <a:lvl8pPr algn="l">
              <a:defRPr sz="1200" b="0">
                <a:solidFill>
                  <a:srgbClr val="192C36"/>
                </a:solidFill>
                <a:latin typeface="Avenir Next"/>
                <a:ea typeface="Avenir Next"/>
                <a:cs typeface="Avenir Next"/>
              </a:defRPr>
            </a:lvl8pPr>
            <a:lvl9pPr algn="l">
              <a:defRPr sz="1200" b="0">
                <a:solidFill>
                  <a:srgbClr val="192C36"/>
                </a:solidFill>
                <a:latin typeface="Avenir Next"/>
                <a:ea typeface="Avenir Next"/>
                <a:cs typeface="Avenir Next"/>
              </a:defRPr>
            </a:lvl9pPr>
          </a:lstStyle>
          <a:p xmlns:a="http://schemas.openxmlformats.org/drawingml/2006/main">
            <a:pPr algn="l">
              <a:defRPr sz="1200" b="0">
                <a:solidFill>
                  <a:srgbClr val="192C36"/>
                </a:solidFill>
                <a:latin typeface="Avenir Next"/>
                <a:ea typeface="Avenir Next"/>
                <a:cs typeface="Avenir Next"/>
              </a:defRPr>
            </a:pPr>
            <a:r>
              <a:rPr sz="1200" b="0">
                <a:solidFill>
                  <a:srgbClr val="192C36"/>
                </a:solidFill>
                <a:latin typeface="Avenir Next"/>
                <a:ea typeface="Avenir Next"/>
                <a:cs typeface="Avenir Next"/>
              </a:rPr>
              <a:t>10,000 requests</a:t>
            </a:r>
          </a:p>
          <a:p xmlns:a="http://schemas.openxmlformats.org/drawingml/2006/main">
            <a:pPr algn="l">
              <a:defRPr sz="1200" b="0">
                <a:solidFill>
                  <a:srgbClr val="192C36"/>
                </a:solidFill>
                <a:latin typeface="Avenir Next"/>
                <a:ea typeface="Avenir Next"/>
                <a:cs typeface="Avenir Next"/>
              </a:defRPr>
            </a:pPr>
            <a:r>
              <a:rPr sz="1200" b="0">
                <a:solidFill>
                  <a:srgbClr val="192C36"/>
                </a:solidFill>
                <a:latin typeface="Avenir Next"/>
                <a:ea typeface="Avenir Next"/>
                <a:cs typeface="Avenir Next"/>
              </a:rPr>
              <a:t>Concurrency 16</a:t>
            </a:r>
          </a:p>
        </p:txBody>
      </p:sp>
      <p:sp>
        <p:nvSpPr>
          <p:cNvPr id="19" name="">
            <a:extLst xmlns:a="http://schemas.openxmlformats.org/drawingml/2006/main">
              <a:ext uri="{FF2B5EF4-FFF2-40B4-BE49-F238E27FC236}">
                <a16:creationId xmlns:a16="http://schemas.microsoft.com/office/drawing/2014/main" id="{227E864F-3FCA-41AD-AA8A-922995B12F46}"/>
              </a:ext>
            </a:extLst>
          </p:cNvPr>
          <p:cNvSpPr>
            <a:spLocks xmlns:a="http://schemas.openxmlformats.org/drawingml/2006/main" noGrp="1"/>
          </p:cNvSpPr>
          <p:nvPr/>
        </p:nvSpPr>
        <p:spPr>
          <a:xfrm xmlns:a="http://schemas.openxmlformats.org/drawingml/2006/main">
            <a:off x="8953500" y="5048250"/>
            <a:ext cx="2476500" cy="19050"/>
          </a:xfrm>
          <a:prstGeom xmlns:a="http://schemas.openxmlformats.org/drawingml/2006/main" prst="rect">
            <a:avLst/>
          </a:prstGeom>
          <a:solidFill xmlns:a="http://schemas.openxmlformats.org/drawingml/2006/main">
            <a:srgbClr val="1D716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E8BBB4C-3722-494A-9802-31993E7520AA}"/>
              </a:ext>
            </a:extLst>
          </p:cNvPr>
          <p:cNvSpPr>
            <a:spLocks xmlns:a="http://schemas.openxmlformats.org/drawingml/2006/main" noGrp="1"/>
          </p:cNvSpPr>
          <p:nvPr/>
        </p:nvSpPr>
        <p:spPr>
          <a:xfrm xmlns:a="http://schemas.openxmlformats.org/drawingml/2006/main">
            <a:off x="628650" y="5600700"/>
            <a:ext cx="666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B4553C"/>
                </a:solidFill>
                <a:latin typeface="Avenir Next"/>
                <a:ea typeface="Avenir Next"/>
                <a:cs typeface="Avenir Next"/>
              </a:defRPr>
            </a:defPPr>
            <a:lvl1pPr algn="l">
              <a:defRPr sz="1575" b="1">
                <a:solidFill>
                  <a:srgbClr val="B4553C"/>
                </a:solidFill>
                <a:latin typeface="Avenir Next"/>
                <a:ea typeface="Avenir Next"/>
                <a:cs typeface="Avenir Next"/>
              </a:defRPr>
            </a:lvl1pPr>
            <a:lvl2pPr algn="l">
              <a:defRPr sz="1575" b="1">
                <a:solidFill>
                  <a:srgbClr val="B4553C"/>
                </a:solidFill>
                <a:latin typeface="Avenir Next"/>
                <a:ea typeface="Avenir Next"/>
                <a:cs typeface="Avenir Next"/>
              </a:defRPr>
            </a:lvl2pPr>
            <a:lvl3pPr algn="l">
              <a:defRPr sz="1575" b="1">
                <a:solidFill>
                  <a:srgbClr val="B4553C"/>
                </a:solidFill>
                <a:latin typeface="Avenir Next"/>
                <a:ea typeface="Avenir Next"/>
                <a:cs typeface="Avenir Next"/>
              </a:defRPr>
            </a:lvl3pPr>
            <a:lvl4pPr algn="l">
              <a:defRPr sz="1575" b="1">
                <a:solidFill>
                  <a:srgbClr val="B4553C"/>
                </a:solidFill>
                <a:latin typeface="Avenir Next"/>
                <a:ea typeface="Avenir Next"/>
                <a:cs typeface="Avenir Next"/>
              </a:defRPr>
            </a:lvl4pPr>
            <a:lvl5pPr algn="l">
              <a:defRPr sz="1575" b="1">
                <a:solidFill>
                  <a:srgbClr val="B4553C"/>
                </a:solidFill>
                <a:latin typeface="Avenir Next"/>
                <a:ea typeface="Avenir Next"/>
                <a:cs typeface="Avenir Next"/>
              </a:defRPr>
            </a:lvl5pPr>
            <a:lvl6pPr algn="l">
              <a:defRPr sz="1575" b="1">
                <a:solidFill>
                  <a:srgbClr val="B4553C"/>
                </a:solidFill>
                <a:latin typeface="Avenir Next"/>
                <a:ea typeface="Avenir Next"/>
                <a:cs typeface="Avenir Next"/>
              </a:defRPr>
            </a:lvl6pPr>
            <a:lvl7pPr algn="l">
              <a:defRPr sz="1575" b="1">
                <a:solidFill>
                  <a:srgbClr val="B4553C"/>
                </a:solidFill>
                <a:latin typeface="Avenir Next"/>
                <a:ea typeface="Avenir Next"/>
                <a:cs typeface="Avenir Next"/>
              </a:defRPr>
            </a:lvl7pPr>
            <a:lvl8pPr algn="l">
              <a:defRPr sz="1575" b="1">
                <a:solidFill>
                  <a:srgbClr val="B4553C"/>
                </a:solidFill>
                <a:latin typeface="Avenir Next"/>
                <a:ea typeface="Avenir Next"/>
                <a:cs typeface="Avenir Next"/>
              </a:defRPr>
            </a:lvl8pPr>
            <a:lvl9pPr algn="l">
              <a:defRPr sz="1575" b="1">
                <a:solidFill>
                  <a:srgbClr val="B4553C"/>
                </a:solidFill>
                <a:latin typeface="Avenir Next"/>
                <a:ea typeface="Avenir Next"/>
                <a:cs typeface="Avenir Next"/>
              </a:defRPr>
            </a:lvl9pPr>
          </a:lstStyle>
          <a:p xmlns:a="http://schemas.openxmlformats.org/drawingml/2006/main">
            <a:pPr algn="l">
              <a:defRPr sz="1575" b="1">
                <a:solidFill>
                  <a:srgbClr val="B4553C"/>
                </a:solidFill>
                <a:latin typeface="Avenir Next"/>
                <a:ea typeface="Avenir Next"/>
                <a:cs typeface="Avenir Next"/>
              </a:defRPr>
            </a:pPr>
            <a:r>
              <a:rPr sz="1575" b="1">
                <a:solidFill>
                  <a:srgbClr val="B4553C"/>
                </a:solidFill>
                <a:latin typeface="Avenir Next"/>
                <a:ea typeface="Avenir Next"/>
                <a:cs typeface="Avenir Next"/>
              </a:rPr>
              <a:t>NEXT  →  LIVE TRANSFER DEMO</a:t>
            </a:r>
          </a:p>
        </p:txBody>
      </p:sp>
      <p:sp>
        <p:nvSpPr>
          <p:cNvPr id="21" name="">
            <a:extLst xmlns:a="http://schemas.openxmlformats.org/drawingml/2006/main">
              <a:ext uri="{FF2B5EF4-FFF2-40B4-BE49-F238E27FC236}">
                <a16:creationId xmlns:a16="http://schemas.microsoft.com/office/drawing/2014/main" id="{1C5B9F82-E555-443C-A8C2-46D7441636D8}"/>
              </a:ext>
            </a:extLst>
          </p:cNvPr>
          <p:cNvSpPr>
            <a:spLocks xmlns:a="http://schemas.openxmlformats.org/drawingml/2006/main" noGrp="1"/>
          </p:cNvSpPr>
          <p:nvPr/>
        </p:nvSpPr>
        <p:spPr>
          <a:xfrm xmlns:a="http://schemas.openxmlformats.org/drawingml/2006/main">
            <a:off x="628650" y="6048375"/>
            <a:ext cx="819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0">
                <a:solidFill>
                  <a:srgbClr val="5E6F75"/>
                </a:solidFill>
                <a:latin typeface="Avenir Next"/>
                <a:ea typeface="Avenir Next"/>
                <a:cs typeface="Avenir Next"/>
              </a:defRPr>
            </a:defPPr>
            <a:lvl1pPr algn="l">
              <a:defRPr sz="900" b="0">
                <a:solidFill>
                  <a:srgbClr val="5E6F75"/>
                </a:solidFill>
                <a:latin typeface="Avenir Next"/>
                <a:ea typeface="Avenir Next"/>
                <a:cs typeface="Avenir Next"/>
              </a:defRPr>
            </a:lvl1pPr>
            <a:lvl2pPr algn="l">
              <a:defRPr sz="900" b="0">
                <a:solidFill>
                  <a:srgbClr val="5E6F75"/>
                </a:solidFill>
                <a:latin typeface="Avenir Next"/>
                <a:ea typeface="Avenir Next"/>
                <a:cs typeface="Avenir Next"/>
              </a:defRPr>
            </a:lvl2pPr>
            <a:lvl3pPr algn="l">
              <a:defRPr sz="900" b="0">
                <a:solidFill>
                  <a:srgbClr val="5E6F75"/>
                </a:solidFill>
                <a:latin typeface="Avenir Next"/>
                <a:ea typeface="Avenir Next"/>
                <a:cs typeface="Avenir Next"/>
              </a:defRPr>
            </a:lvl3pPr>
            <a:lvl4pPr algn="l">
              <a:defRPr sz="900" b="0">
                <a:solidFill>
                  <a:srgbClr val="5E6F75"/>
                </a:solidFill>
                <a:latin typeface="Avenir Next"/>
                <a:ea typeface="Avenir Next"/>
                <a:cs typeface="Avenir Next"/>
              </a:defRPr>
            </a:lvl4pPr>
            <a:lvl5pPr algn="l">
              <a:defRPr sz="900" b="0">
                <a:solidFill>
                  <a:srgbClr val="5E6F75"/>
                </a:solidFill>
                <a:latin typeface="Avenir Next"/>
                <a:ea typeface="Avenir Next"/>
                <a:cs typeface="Avenir Next"/>
              </a:defRPr>
            </a:lvl5pPr>
            <a:lvl6pPr algn="l">
              <a:defRPr sz="900" b="0">
                <a:solidFill>
                  <a:srgbClr val="5E6F75"/>
                </a:solidFill>
                <a:latin typeface="Avenir Next"/>
                <a:ea typeface="Avenir Next"/>
                <a:cs typeface="Avenir Next"/>
              </a:defRPr>
            </a:lvl6pPr>
            <a:lvl7pPr algn="l">
              <a:defRPr sz="900" b="0">
                <a:solidFill>
                  <a:srgbClr val="5E6F75"/>
                </a:solidFill>
                <a:latin typeface="Avenir Next"/>
                <a:ea typeface="Avenir Next"/>
                <a:cs typeface="Avenir Next"/>
              </a:defRPr>
            </a:lvl7pPr>
            <a:lvl8pPr algn="l">
              <a:defRPr sz="900" b="0">
                <a:solidFill>
                  <a:srgbClr val="5E6F75"/>
                </a:solidFill>
                <a:latin typeface="Avenir Next"/>
                <a:ea typeface="Avenir Next"/>
                <a:cs typeface="Avenir Next"/>
              </a:defRPr>
            </a:lvl8pPr>
            <a:lvl9pPr algn="l">
              <a:defRPr sz="900" b="0">
                <a:solidFill>
                  <a:srgbClr val="5E6F75"/>
                </a:solidFill>
                <a:latin typeface="Avenir Next"/>
                <a:ea typeface="Avenir Next"/>
                <a:cs typeface="Avenir Next"/>
              </a:defRPr>
            </a:lvl9pPr>
          </a:lstStyle>
          <a:p xmlns:a="http://schemas.openxmlformats.org/drawingml/2006/main">
            <a:pPr algn="l">
              <a:defRPr sz="900" b="0">
                <a:solidFill>
                  <a:srgbClr val="5E6F75"/>
                </a:solidFill>
                <a:latin typeface="Avenir Next"/>
                <a:ea typeface="Avenir Next"/>
                <a:cs typeface="Avenir Next"/>
              </a:defRPr>
            </a:pPr>
            <a:r>
              <a:rPr sz="900" b="0">
                <a:solidFill>
                  <a:srgbClr val="5E6F75"/>
                </a:solidFill>
                <a:latin typeface="Avenir Next"/>
                <a:ea typeface="Avenir Next"/>
                <a:cs typeface="Avenir Next"/>
              </a:rPr>
              <a:t>Measured on the deployed LinuxONE service · latest recorded run</a:t>
            </a:r>
          </a:p>
        </p:txBody>
      </p:sp>
    </p:spTree>
    <p:extLst>
      <p:ext uri="{BB962C8B-B14F-4D97-AF65-F5344CB8AC3E}">
        <p14:creationId xmlns:p14="http://schemas.microsoft.com/office/powerpoint/2010/main" val="6660853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2026-10-18T03:07:27.1920000Z</dcterms:created>
  <dcterms:modified xsi:type="dcterms:W3CDTF">2026-10-18T03:07:27.1930000Z</dcterms:modified>
</coreProperties>
</file>