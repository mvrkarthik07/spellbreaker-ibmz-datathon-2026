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9ec712cf44aac" /><Relationship Type="http://schemas.openxmlformats.org/officeDocument/2006/relationships/extended-properties" Target="/docProps/app.xml" Id="R20b6b918872f4cf6" /><Relationship Type="http://schemas.openxmlformats.org/officeDocument/2006/relationships/officeDocument" Target="/ppt/presentation.xml" Id="Rd4f0d2e4205e41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50bfbc6544d50"/>
  </p:sldMasterIdLst>
  <p:notesMasterIdLst>
    <p:notesMasterId xmlns:r="http://schemas.openxmlformats.org/officeDocument/2006/relationships" r:id="R18ff615afebc4a4d"/>
  </p:notesMasterIdLst>
  <p:sldIdLst>
    <p:sldId xmlns:r="http://schemas.openxmlformats.org/officeDocument/2006/relationships" id="256" r:id="R161544e314484e3a"/>
    <p:sldId xmlns:r="http://schemas.openxmlformats.org/officeDocument/2006/relationships" id="257" r:id="Rc1e744f6d9e84de9"/>
    <p:sldId xmlns:r="http://schemas.openxmlformats.org/officeDocument/2006/relationships" id="258" r:id="R1cafb873dee74d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6b54601d3842a2" /><Relationship Type="http://schemas.openxmlformats.org/officeDocument/2006/relationships/slideMaster" Target="/ppt/slideMasters/slideMaster1.xml" Id="R42f50bfbc6544d50" /><Relationship Type="http://schemas.openxmlformats.org/officeDocument/2006/relationships/notesMaster" Target="/ppt/notesMasters/notesMaster1.xml" Id="R18ff615afebc4a4d" /><Relationship Type="http://schemas.openxmlformats.org/officeDocument/2006/relationships/presProps" Target="/ppt/presProps.xml" Id="Rb296592262a64d4e" /><Relationship Type="http://schemas.openxmlformats.org/officeDocument/2006/relationships/tableStyles" Target="/ppt/tableStyles.xml" Id="R4b3ae62f3de544c2" /><Relationship Type="http://schemas.openxmlformats.org/officeDocument/2006/relationships/slide" Target="/ppt/slides/slide1.xml" Id="R161544e314484e3a" /><Relationship Type="http://schemas.openxmlformats.org/officeDocument/2006/relationships/slide" Target="/ppt/slides/slide2.xml" Id="Rc1e744f6d9e84de9" /><Relationship Type="http://schemas.openxmlformats.org/officeDocument/2006/relationships/slide" Target="/ppt/slides/slide3.xml" Id="R1cafb873dee74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075dfd459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89c8eff97447a" /><Relationship Type="http://schemas.openxmlformats.org/officeDocument/2006/relationships/notesMaster" Target="/ppt/notesMasters/notesMaster1.xml" Id="Rd7d747010f51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f5a756676452e" /><Relationship Type="http://schemas.openxmlformats.org/officeDocument/2006/relationships/notesMaster" Target="/ppt/notesMasters/notesMaster1.xml" Id="R7ef11cf2025c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958213fe249e4" /><Relationship Type="http://schemas.openxmlformats.org/officeDocument/2006/relationships/notesMaster" Target="/ppt/notesMasters/notesMaster1.xml" Id="R7cd56c581308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~12 seconds. “SpellBreaker starts from a simple problem: many scam payments are sent by the real account holder. In Singapore in 2025, 81.8 percent of scam cases involved self-effected transfers. Identity checks can pass, so the bank needs to look at the transfer context too.” Source: https://www.police.gov.sg/media-hub/police-life/2026/02/scams-and-cybercrime-fell-by-almost-a-quarter-in-2025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~15 seconds. “The app sends transfer and session signals to the scoring service. Three model signals feed a policy layer: transfer risk and scam type from scikit-learn, plus a receiver mule score from XGBoost. The policy returns allow, ask, or hold. Sensitive identifiers are excluded from the model vector and case-note prompt.”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~10 seconds. “The scoring stack is scikit-learn, XGBoost, FastAPI and NumPy, running on IBM LinuxONE. The latest 10,000-request LinuxONE benchmark measured a 25.22 millisecond server-side p99 at concurrency 16. Granite case notes run asynchronously and remain optional; the deterministic template is currently the default. Now let’s look at the transfer flow.”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27e163ba646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3b8e5cc8746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2dd51e5b84a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258e8d04d47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3e2f90dad40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1f9b83d9b44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0EB29-C112-4C38-B9F3-DD2E31496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ECE5BB-E877-4010-930A-FFBBA4760D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450574-46FF-4952-A312-4009DDB9E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75D5C6-BD3F-46E5-9CC8-07C8B1FF8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983C3D-8AA3-4A89-98A5-F2F4F892C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12211E-F6EB-4EB3-9312-AA2A0E781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01C13C-339E-47CF-835B-A643549BF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21195E-0AAB-4638-93EF-E25ACC4A90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8FE859-A0B3-4C64-BB36-F0C49A7E9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83921F-1FB1-4FDF-958C-0CD185476C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fab709ef884625" /><Relationship Type="http://schemas.openxmlformats.org/officeDocument/2006/relationships/slideLayout" Target="/ppt/slideLayouts/slideLayout1.xml" Id="R1b089afbe81948b0" /><Relationship Type="http://schemas.openxmlformats.org/officeDocument/2006/relationships/slideLayout" Target="/ppt/slideLayouts/slideLayout2.xml" Id="Rbc742bc1e5aa44d3" /><Relationship Type="http://schemas.openxmlformats.org/officeDocument/2006/relationships/slideLayout" Target="/ppt/slideLayouts/slideLayout3.xml" Id="R77acec0556d64881" /><Relationship Type="http://schemas.openxmlformats.org/officeDocument/2006/relationships/slideLayout" Target="/ppt/slideLayouts/slideLayout4.xml" Id="R0e9ca36862a14f90" /><Relationship Type="http://schemas.openxmlformats.org/officeDocument/2006/relationships/slideLayout" Target="/ppt/slideLayouts/slideLayout5.xml" Id="Re35807419eca421d" /><Relationship Type="http://schemas.openxmlformats.org/officeDocument/2006/relationships/slideLayout" Target="/ppt/slideLayouts/slideLayout6.xml" Id="R8c7bbb143ed347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89afbe81948b0"/>
    <p:sldLayoutId xmlns:r="http://schemas.openxmlformats.org/officeDocument/2006/relationships" id="2147483650" r:id="Rbc742bc1e5aa44d3"/>
    <p:sldLayoutId xmlns:r="http://schemas.openxmlformats.org/officeDocument/2006/relationships" id="2147483651" r:id="R77acec0556d64881"/>
    <p:sldLayoutId xmlns:r="http://schemas.openxmlformats.org/officeDocument/2006/relationships" id="2147483652" r:id="R0e9ca36862a14f90"/>
    <p:sldLayoutId xmlns:r="http://schemas.openxmlformats.org/officeDocument/2006/relationships" id="2147483653" r:id="Re35807419eca421d"/>
    <p:sldLayoutId xmlns:r="http://schemas.openxmlformats.org/officeDocument/2006/relationships" id="2147483654" r:id="R8c7bbb143ed347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c0db738d543f0" /><Relationship Type="http://schemas.openxmlformats.org/officeDocument/2006/relationships/notesSlide" Target="/ppt/notesSlides/notesSlide1.xml" Id="R633dd60104d3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9ced73fa2445f" /><Relationship Type="http://schemas.openxmlformats.org/officeDocument/2006/relationships/notesSlide" Target="/ppt/notesSlides/notesSlide2.xml" Id="Rb89ebba014de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14cab5c7242e1" /><Relationship Type="http://schemas.openxmlformats.org/officeDocument/2006/relationships/notesSlide" Target="/ppt/notesSlides/notesSlide3.xml" Id="R586cadb3802a49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A73C5-4D1F-4FF7-82BA-A90D3C6B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TOKENMAXXERS     /     IBM Z DATATHON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383C6-2A42-415C-9FE5-216DCBC3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SPELLBREAKER   ·  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EB3DE-1223-47FA-B1E9-9BCE0049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715D2-DF6B-41CB-A310-343D2670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42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The customer can be</a:t>
            </a:r>
          </a:p>
          <a:p xmlns:a="http://schemas.openxmlformats.org/drawingml/2006/main">
            <a:pPr algn="l">
              <a:def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the one sending the money.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15713-E3E0-424B-ADBA-9FFE768B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That is what makes these scams hard to stop.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2685B-673B-404A-B00D-50422EB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D716F"/>
                </a:solidFill>
                <a:latin typeface="Avenir Next"/>
                <a:ea typeface="Avenir Next"/>
                <a:cs typeface="Avenir Next"/>
              </a:rPr>
              <a:t>81.8%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56289-8CA3-4BB0-BACF-FC496BCF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DB59C-4B10-4981-BB1F-34BEFC52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self-effected transfers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C6ED8-CB19-4644-853A-040EB49D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S$913.1m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7A0DC-5663-4798-A751-1A12BC6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76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F23E5-6C25-43D4-942F-B953B46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10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lost to scams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D5CD7-4E31-4239-8230-054CE130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41,974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A3A72-825A-4216-91E1-774311B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4C8A3-6945-4D35-A926-EB97713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0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reported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682E5-17E6-43CD-A8C7-3F76F5C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Identity checks can pass when the real account holder is being manipulated.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4F3E4-7238-4CFF-940A-6FC0B8B7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Singapore Police Force · 2025 annual scam figures</a:t>
            </a:r>
          </a:p>
        </p:txBody>
      </p:sp>
    </p:spTree>
    <p:extLst>
      <p:ext uri="{BB962C8B-B14F-4D97-AF65-F5344CB8AC3E}">
        <p14:creationId xmlns:p14="http://schemas.microsoft.com/office/powerpoint/2010/main" val="853234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390B2-1763-4256-8AA4-F48611FA1A3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05925" y="36099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716F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8C9F7-1E7F-428E-9645-C35F8B4FEF5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62725" y="36099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716F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81146-C310-4AC5-A774-7A26D3608EC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62275" y="36099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716F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CABB4-C4D8-4DFE-B312-A76978B3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TOKENMAXXERS     /     IBM Z DATATHON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5DD6-5DAB-41CB-ACFD-D8194D1A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SPELLBREAKER   ·   THE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93A5D-A754-4031-B99A-4127B445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E6AAE-C38F-40D2-B279-CA96BB68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A quick check before the transfer leaves.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AB9E7-F10A-415D-9413-8B066EEB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Signals in. A useful interruption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65D6D-F7EB-4C8B-A89C-D94C397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233362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71934-FE5C-4F94-A60D-59D7BC7A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24125"/>
            <a:ext cx="2857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DCEBE8"/>
          </a:solidFill>
          <a:ln xmlns:a="http://schemas.openxmlformats.org/drawingml/2006/main" w="13335">
            <a:solidFill>
              <a:srgbClr val="9BBD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4E6EF-0E28-40ED-B779-DCCA1F0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24125"/>
            <a:ext cx="2000250" cy="21717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D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35D34-C4BB-4DD1-BBD0-8E0822F0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24125"/>
            <a:ext cx="1581150" cy="21717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92C36"/>
          </a:solidFill>
          <a:ln xmlns:a="http://schemas.openxmlformats.org/drawingml/2006/main" w="13335">
            <a:solidFill>
              <a:srgbClr val="192C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CBDC4-7384-4155-8107-479D8A35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TRANSFER +</a:t>
            </a:r>
          </a:p>
          <a:p xmlns:a="http://schemas.openxmlformats.org/drawingml/2006/main">
            <a: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SESSION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4721E-D75D-40E6-9296-6A15FA45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Amount and balance</a:t>
            </a:r>
          </a:p>
          <a:p xmlns:a="http://schemas.openxmlformats.org/drawingml/2006/main">
            <a: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Payee history</a:t>
            </a:r>
          </a:p>
          <a:p xmlns:a="http://schemas.openxmlformats.org/drawingml/2006/main">
            <a: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Entry behaviour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AE08B-62D2-49D3-8368-D19D62E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52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716F"/>
                </a:solidFill>
                <a:latin typeface="Avenir Next"/>
                <a:ea typeface="Avenir Next"/>
                <a:cs typeface="Avenir Next"/>
              </a:rPr>
              <a:t>THREE MODEL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C2140-8E1B-4FA0-9CA6-B9EC8B3D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0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M1  Transfer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68923-F4F6-40F8-A9DC-8561714E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90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M2  Scam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AAF81-03B2-47C9-916C-DFC0856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M3  Receiver mule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2009B-84B0-43CC-9EE5-2046B298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289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B4553C"/>
                </a:solidFill>
                <a:latin typeface="Avenir Next"/>
                <a:ea typeface="Avenir Next"/>
                <a:cs typeface="Avenir Next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54BA6-90FE-435E-A796-5E1AAA00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43275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Combines scores</a:t>
            </a:r>
          </a:p>
          <a:p xmlns:a="http://schemas.openxmlformats.org/drawingml/2006/main">
            <a:pPr algn="l">
              <a:def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with thresholds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8AB9E-6551-474B-B135-68B2743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86075"/>
            <a:ext cx="123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ALLOW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ASK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C6AF1-0E6A-456E-B8BA-3F676400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E5E2"/>
                </a:solidFill>
                <a:latin typeface="Avenir Next"/>
                <a:ea typeface="Avenir Next"/>
                <a:cs typeface="Avenir Next"/>
              </a:rPr>
              <a:t>Bank-side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04634-8B43-485E-8BD7-55C2AE75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The recipient name is not a model feature. Names and account numbers stay out of the case-note prompt.</a:t>
            </a:r>
          </a:p>
        </p:txBody>
      </p:sp>
    </p:spTree>
    <p:extLst>
      <p:ext uri="{BB962C8B-B14F-4D97-AF65-F5344CB8AC3E}">
        <p14:creationId xmlns:p14="http://schemas.microsoft.com/office/powerpoint/2010/main" val="193732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3B4C7-F5E9-4717-9CA3-2B7EC16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TOKENMAXXERS     /     IBM Z DATATHON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44F9-9663-4F74-94A5-34FE603A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SPELLBREAKER   ·   BUILT ON IBM LINUXONE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D0DDE-A4E7-440E-BFBB-4A6A458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3F789-8E45-4D49-9417-A3BBA1B1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8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Small models. Fast decision.</a:t>
            </a:r>
          </a:p>
          <a:p xmlns:a="http://schemas.openxmlformats.org/drawingml/2006/main">
            <a:pPr algn="l">
              <a:def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Then we’ll show it live.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B27A9-80B4-4ED6-B76B-D4D44FA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Scoring runs on IBM LinuxONE (s390x).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155FA-FE3D-484B-989C-C4281AF3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3810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9D524-80D8-4883-8E2C-24F17B8F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14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scikit-learn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CA67A-A6A2-4F36-9CC9-F252168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14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Transfer risk + scam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DCC49-9C61-4F0F-A00B-B1F9045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48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0913C-0FE8-4407-87F1-6859E4B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48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Receiver-mule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F0C79-8D34-44D0-8223-A1679764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81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FastAPI + NumPy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25BA5-47E3-474A-8B4C-EB3C9E74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8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Low-latency scoring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B0F73-06F0-464C-9CB4-8A947F9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14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4553C"/>
                </a:solidFill>
                <a:latin typeface="Avenir Next"/>
                <a:ea typeface="Avenir Next"/>
                <a:cs typeface="Avenir Next"/>
              </a:rPr>
              <a:t>ASYNC CASE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799FC-E67B-4FB7-A0A4-584EA7E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862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Granite is optional; template is the current default.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56EF7-489F-4B0C-93D1-910A54DD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142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A8912-0529-4857-B9CA-7259BD6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47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D716F"/>
                </a:solidFill>
                <a:latin typeface="Avenir Next"/>
                <a:ea typeface="Avenir Next"/>
                <a:cs typeface="Avenir Next"/>
              </a:rPr>
              <a:t>25.22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F6C73-36A3-4612-99C6-E771CA2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86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LinuxONE server p99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5840A-2869-44D4-8F62-29DDB90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052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10,000 requests</a:t>
            </a:r>
          </a:p>
          <a:p xmlns:a="http://schemas.openxmlformats.org/drawingml/2006/main">
            <a:pPr algn="l">
              <a:def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92C36"/>
                </a:solidFill>
                <a:latin typeface="Avenir Next"/>
                <a:ea typeface="Avenir Next"/>
                <a:cs typeface="Avenir Next"/>
              </a:rPr>
              <a:t>Concurrency 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29CBD-10FA-4603-ABAF-C866B77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482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24B8C-2359-449B-A878-6996CA14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B4553C"/>
                </a:solidFill>
                <a:latin typeface="Avenir Next"/>
                <a:ea typeface="Avenir Next"/>
                <a:cs typeface="Avenir Next"/>
              </a:rPr>
              <a:t>NEXT  →  LIVE TRANSFER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8C068-B5EF-4A27-AF99-AAC153E0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E6F75"/>
                </a:solidFill>
                <a:latin typeface="Avenir Next"/>
                <a:ea typeface="Avenir Next"/>
                <a:cs typeface="Avenir Next"/>
              </a:rPr>
              <a:t>Measured on the deployed LinuxONE service · latest recorded run</a:t>
            </a:r>
          </a:p>
        </p:txBody>
      </p:sp>
    </p:spTree>
    <p:extLst>
      <p:ext uri="{BB962C8B-B14F-4D97-AF65-F5344CB8AC3E}">
        <p14:creationId xmlns:p14="http://schemas.microsoft.com/office/powerpoint/2010/main" val="956898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2026-10-18T03:02:51.4400000Z</dcterms:created>
  <dcterms:modified xsi:type="dcterms:W3CDTF">2026-10-18T03:02:51.4400000Z</dcterms:modified>
</coreProperties>
</file>